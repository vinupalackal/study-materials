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executive summary: the module is not a feature, it is an operating platform for service orchestration across distributed environments. It reduces complexity by standardizing how capabilities are exposed, checked, and updated across the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is not just technical complexity, it is operational fragility. As the number of device environments grows, the lack of a unified runtime control layer becomes a direct barrier to scale and customer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operating model behind the product. Not all requests are equal — some are meant only for observation, while others modify runtime behavior or change configuration. Separating those functions by plane reduces accidental change and supports better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ROI is not only in engineering efficiency, it is in product reliability and reduced churn caused by operational instability. This matters to leadership because it improves both margin and customer confidence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critical for executive confidence: the solution is intentionally non-disruptive. It reduces adoption risk because the business gains control-plane benefits without interrupting existing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risk is not innovation itself, it is operational exposure when dependencies or update paths are ungoverned. The design addresses that by balancing resilience, observability, and controlled rollout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straightforward: approve a phased deployment with clear success criteria and operational ownership. This is a strategic modernization initiative that improves delivery velocity while lowering risk and support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3294B"/>
          </a:solidFill>
          <a:ln/>
        </p:spPr>
      </p:sp>
      <p:sp>
        <p:nvSpPr>
          <p:cNvPr id="3" name="Shape 1"/>
          <p:cNvSpPr/>
          <p:nvPr/>
        </p:nvSpPr>
        <p:spPr>
          <a:xfrm>
            <a:off x="10607040" y="3840480"/>
            <a:ext cx="2926080" cy="2926080"/>
          </a:xfrm>
          <a:prstGeom prst="ellipse">
            <a:avLst/>
          </a:prstGeom>
          <a:solidFill>
            <a:srgbClr val="1B3A63"/>
          </a:solidFill>
          <a:ln/>
        </p:spPr>
      </p:sp>
      <p:sp>
        <p:nvSpPr>
          <p:cNvPr id="4" name="Text 2"/>
          <p:cNvSpPr/>
          <p:nvPr/>
        </p:nvSpPr>
        <p:spPr>
          <a:xfrm>
            <a:off x="640080" y="640080"/>
            <a:ext cx="7772400" cy="365760"/>
          </a:xfrm>
          <a:prstGeom prst="rect">
            <a:avLst/>
          </a:prstGeom>
          <a:noFill/>
          <a:ln/>
        </p:spPr>
        <p:txBody>
          <a:bodyPr wrap="square" rtlCol="0" anchor="ctr"/>
          <a:lstStyle/>
          <a:p>
            <a:pPr indent="0" marL="0">
              <a:buNone/>
            </a:pPr>
            <a:r>
              <a:rPr lang="en-US" sz="1200" b="1" spc="200" kern="0" dirty="0">
                <a:solidFill>
                  <a:srgbClr val="0D9488"/>
                </a:solidFill>
                <a:latin typeface="Arial" pitchFamily="34" charset="0"/>
                <a:ea typeface="Arial" pitchFamily="34" charset="-122"/>
                <a:cs typeface="Arial" pitchFamily="34" charset="-120"/>
              </a:rPr>
              <a:t>MULTI-PLANE RUNTIME CONTROL PLATFORM</a:t>
            </a:r>
            <a:endParaRPr lang="en-US" sz="1200" dirty="0"/>
          </a:p>
        </p:txBody>
      </p:sp>
      <p:sp>
        <p:nvSpPr>
          <p:cNvPr id="5" name="Text 3"/>
          <p:cNvSpPr/>
          <p:nvPr/>
        </p:nvSpPr>
        <p:spPr>
          <a:xfrm>
            <a:off x="640080" y="2286000"/>
            <a:ext cx="8686800" cy="1828800"/>
          </a:xfrm>
          <a:prstGeom prst="rect">
            <a:avLst/>
          </a:prstGeom>
          <a:noFill/>
          <a:ln/>
        </p:spPr>
        <p:txBody>
          <a:bodyPr wrap="square" rtlCol="0" anchor="ctr"/>
          <a:lstStyle/>
          <a:p>
            <a:pPr indent="0" marL="0">
              <a:lnSpc>
                <a:spcPts val="4400"/>
              </a:lnSpc>
              <a:buNone/>
            </a:pPr>
            <a:r>
              <a:rPr lang="en-US" sz="3800" b="1" dirty="0">
                <a:solidFill>
                  <a:srgbClr val="FFFFFF"/>
                </a:solidFill>
                <a:latin typeface="Arial" pitchFamily="34" charset="0"/>
                <a:ea typeface="Arial" pitchFamily="34" charset="-122"/>
                <a:cs typeface="Arial" pitchFamily="34" charset="-120"/>
              </a:rPr>
              <a:t>A unified control layer for distributed device capabilities</a:t>
            </a:r>
            <a:endParaRPr lang="en-US" sz="3800" dirty="0"/>
          </a:p>
        </p:txBody>
      </p:sp>
      <p:sp>
        <p:nvSpPr>
          <p:cNvPr id="6" name="Text 4"/>
          <p:cNvSpPr/>
          <p:nvPr/>
        </p:nvSpPr>
        <p:spPr>
          <a:xfrm>
            <a:off x="640080" y="4160520"/>
            <a:ext cx="7863840" cy="914400"/>
          </a:xfrm>
          <a:prstGeom prst="rect">
            <a:avLst/>
          </a:prstGeom>
          <a:noFill/>
          <a:ln/>
        </p:spPr>
        <p:txBody>
          <a:bodyPr wrap="square" rtlCol="0" anchor="ctr"/>
          <a:lstStyle/>
          <a:p>
            <a:pPr indent="0" marL="0">
              <a:lnSpc>
                <a:spcPts val="2100"/>
              </a:lnSpc>
              <a:buNone/>
            </a:pPr>
            <a:r>
              <a:rPr lang="en-US" sz="1500" dirty="0">
                <a:solidFill>
                  <a:srgbClr val="C7D2E3"/>
                </a:solidFill>
                <a:latin typeface="Arial" pitchFamily="34" charset="0"/>
                <a:ea typeface="Arial" pitchFamily="34" charset="-122"/>
                <a:cs typeface="Arial" pitchFamily="34" charset="-120"/>
              </a:rPr>
              <a:t>One governed way to discover, validate, and update runtime capabilities across every operating plane — without disruptive rip-and-replace change.</a:t>
            </a:r>
            <a:endParaRPr lang="en-US" sz="1500" dirty="0"/>
          </a:p>
        </p:txBody>
      </p:sp>
      <p:sp>
        <p:nvSpPr>
          <p:cNvPr id="7" name="Text 5"/>
          <p:cNvSpPr/>
          <p:nvPr/>
        </p:nvSpPr>
        <p:spPr>
          <a:xfrm>
            <a:off x="640080" y="6263640"/>
            <a:ext cx="7315200" cy="36576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Executive Briefing  •  Architecture &amp; Platform Strategy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914400"/>
          </a:xfrm>
          <a:prstGeom prst="rect">
            <a:avLst/>
          </a:prstGeom>
          <a:noFill/>
          <a:ln/>
        </p:spPr>
        <p:txBody>
          <a:bodyPr wrap="square" rtlCol="0" anchor="ctr"/>
          <a:lstStyle/>
          <a:p>
            <a:pPr indent="0" marL="0">
              <a:lnSpc>
                <a:spcPts val="3200"/>
              </a:lnSpc>
              <a:buNone/>
            </a:pPr>
            <a:r>
              <a:rPr lang="en-US" sz="2700" b="1" dirty="0">
                <a:solidFill>
                  <a:srgbClr val="0B1F3A"/>
                </a:solidFill>
                <a:latin typeface="Arial" pitchFamily="34" charset="0"/>
                <a:ea typeface="Arial" pitchFamily="34" charset="-122"/>
                <a:cs typeface="Arial" pitchFamily="34" charset="-120"/>
              </a:rPr>
              <a:t>Fragmented operations are creating unnecessary risk, delay, and cost</a:t>
            </a:r>
            <a:endParaRPr lang="en-US" sz="2700" dirty="0"/>
          </a:p>
        </p:txBody>
      </p:sp>
      <p:sp>
        <p:nvSpPr>
          <p:cNvPr id="3" name="Shape 1"/>
          <p:cNvSpPr/>
          <p:nvPr/>
        </p:nvSpPr>
        <p:spPr>
          <a:xfrm>
            <a:off x="548640" y="1828800"/>
            <a:ext cx="2651760" cy="3200400"/>
          </a:xfrm>
          <a:prstGeom prst="roundRect">
            <a:avLst>
              <a:gd name="adj" fmla="val 2759"/>
            </a:avLst>
          </a:prstGeom>
          <a:solidFill>
            <a:srgbClr val="F4F6F9"/>
          </a:solidFill>
          <a:ln/>
          <a:effectLst>
            <a:outerShdw sx="100000" sy="100000" kx="0" ky="0" algn="bl" rotWithShape="0" blurRad="101600" dist="38100" dir="5400000">
              <a:srgbClr val="94A3B8">
                <a:alpha val="35000"/>
              </a:srgbClr>
            </a:outerShdw>
          </a:effectLst>
        </p:spPr>
      </p:sp>
      <p:sp>
        <p:nvSpPr>
          <p:cNvPr id="4" name="Shape 2"/>
          <p:cNvSpPr/>
          <p:nvPr/>
        </p:nvSpPr>
        <p:spPr>
          <a:xfrm>
            <a:off x="822960" y="2148840"/>
            <a:ext cx="502920" cy="502920"/>
          </a:xfrm>
          <a:prstGeom prst="roundRect">
            <a:avLst>
              <a:gd name="adj" fmla="val 14545"/>
            </a:avLst>
          </a:prstGeom>
          <a:solidFill>
            <a:srgbClr val="0B1F3A"/>
          </a:solidFill>
          <a:ln/>
        </p:spPr>
      </p:sp>
      <p:sp>
        <p:nvSpPr>
          <p:cNvPr id="5" name="Text 3"/>
          <p:cNvSpPr/>
          <p:nvPr/>
        </p:nvSpPr>
        <p:spPr>
          <a:xfrm>
            <a:off x="822960" y="214884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822960" y="2834640"/>
            <a:ext cx="2103120" cy="640080"/>
          </a:xfrm>
          <a:prstGeom prst="rect">
            <a:avLst/>
          </a:prstGeom>
          <a:noFill/>
          <a:ln/>
        </p:spPr>
        <p:txBody>
          <a:bodyPr wrap="square" rtlCol="0" anchor="ctr"/>
          <a:lstStyle/>
          <a:p>
            <a:pPr indent="0" marL="0">
              <a:lnSpc>
                <a:spcPts val="1700"/>
              </a:lnSpc>
              <a:buNone/>
            </a:pPr>
            <a:r>
              <a:rPr lang="en-US" sz="1450" b="1" dirty="0">
                <a:solidFill>
                  <a:srgbClr val="0B1F3A"/>
                </a:solidFill>
                <a:latin typeface="Arial" pitchFamily="34" charset="0"/>
                <a:ea typeface="Arial" pitchFamily="34" charset="-122"/>
                <a:cs typeface="Arial" pitchFamily="34" charset="-120"/>
              </a:rPr>
              <a:t>Inconsistent visibility</a:t>
            </a:r>
            <a:endParaRPr lang="en-US" sz="1450" dirty="0"/>
          </a:p>
        </p:txBody>
      </p:sp>
      <p:sp>
        <p:nvSpPr>
          <p:cNvPr id="7" name="Text 5"/>
          <p:cNvSpPr/>
          <p:nvPr/>
        </p:nvSpPr>
        <p:spPr>
          <a:xfrm>
            <a:off x="822960" y="3520440"/>
            <a:ext cx="2103120" cy="1371600"/>
          </a:xfrm>
          <a:prstGeom prst="rect">
            <a:avLst/>
          </a:prstGeom>
          <a:noFill/>
          <a:ln/>
        </p:spPr>
        <p:txBody>
          <a:bodyPr wrap="square" rtlCol="0" anchor="ctr"/>
          <a:lstStyle/>
          <a:p>
            <a:pPr indent="0" marL="0">
              <a:lnSpc>
                <a:spcPts val="1450"/>
              </a:lnSpc>
              <a:buNone/>
            </a:pPr>
            <a:r>
              <a:rPr lang="en-US" sz="1100" dirty="0">
                <a:solidFill>
                  <a:srgbClr val="334155"/>
                </a:solidFill>
                <a:latin typeface="Arial" pitchFamily="34" charset="0"/>
                <a:ea typeface="Arial" pitchFamily="34" charset="-122"/>
                <a:cs typeface="Arial" pitchFamily="34" charset="-120"/>
              </a:rPr>
              <a:t>Runtime environments expose different capabilities and status, making planning and troubleshooting difficult.</a:t>
            </a:r>
            <a:endParaRPr lang="en-US" sz="1100" dirty="0"/>
          </a:p>
        </p:txBody>
      </p:sp>
      <p:sp>
        <p:nvSpPr>
          <p:cNvPr id="8" name="Shape 6"/>
          <p:cNvSpPr/>
          <p:nvPr/>
        </p:nvSpPr>
        <p:spPr>
          <a:xfrm>
            <a:off x="3429000" y="1828800"/>
            <a:ext cx="2651760" cy="3200400"/>
          </a:xfrm>
          <a:prstGeom prst="roundRect">
            <a:avLst>
              <a:gd name="adj" fmla="val 2759"/>
            </a:avLst>
          </a:prstGeom>
          <a:solidFill>
            <a:srgbClr val="F4F6F9"/>
          </a:solidFill>
          <a:ln/>
          <a:effectLst>
            <a:outerShdw sx="100000" sy="100000" kx="0" ky="0" algn="bl" rotWithShape="0" blurRad="101600" dist="38100" dir="5400000">
              <a:srgbClr val="94A3B8">
                <a:alpha val="35000"/>
              </a:srgbClr>
            </a:outerShdw>
          </a:effectLst>
        </p:spPr>
      </p:sp>
      <p:sp>
        <p:nvSpPr>
          <p:cNvPr id="9" name="Shape 7"/>
          <p:cNvSpPr/>
          <p:nvPr/>
        </p:nvSpPr>
        <p:spPr>
          <a:xfrm>
            <a:off x="3703320" y="2148840"/>
            <a:ext cx="502920" cy="502920"/>
          </a:xfrm>
          <a:prstGeom prst="roundRect">
            <a:avLst>
              <a:gd name="adj" fmla="val 14545"/>
            </a:avLst>
          </a:prstGeom>
          <a:solidFill>
            <a:srgbClr val="0B1F3A"/>
          </a:solidFill>
          <a:ln/>
        </p:spPr>
      </p:sp>
      <p:sp>
        <p:nvSpPr>
          <p:cNvPr id="10" name="Text 8"/>
          <p:cNvSpPr/>
          <p:nvPr/>
        </p:nvSpPr>
        <p:spPr>
          <a:xfrm>
            <a:off x="3703320" y="214884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3703320" y="2834640"/>
            <a:ext cx="2103120" cy="640080"/>
          </a:xfrm>
          <a:prstGeom prst="rect">
            <a:avLst/>
          </a:prstGeom>
          <a:noFill/>
          <a:ln/>
        </p:spPr>
        <p:txBody>
          <a:bodyPr wrap="square" rtlCol="0" anchor="ctr"/>
          <a:lstStyle/>
          <a:p>
            <a:pPr indent="0" marL="0">
              <a:lnSpc>
                <a:spcPts val="1700"/>
              </a:lnSpc>
              <a:buNone/>
            </a:pPr>
            <a:r>
              <a:rPr lang="en-US" sz="1450" b="1" dirty="0">
                <a:solidFill>
                  <a:srgbClr val="0B1F3A"/>
                </a:solidFill>
                <a:latin typeface="Arial" pitchFamily="34" charset="0"/>
                <a:ea typeface="Arial" pitchFamily="34" charset="-122"/>
                <a:cs typeface="Arial" pitchFamily="34" charset="-120"/>
              </a:rPr>
              <a:t>Manual coordination</a:t>
            </a:r>
            <a:endParaRPr lang="en-US" sz="1450" dirty="0"/>
          </a:p>
        </p:txBody>
      </p:sp>
      <p:sp>
        <p:nvSpPr>
          <p:cNvPr id="12" name="Text 10"/>
          <p:cNvSpPr/>
          <p:nvPr/>
        </p:nvSpPr>
        <p:spPr>
          <a:xfrm>
            <a:off x="3703320" y="3520440"/>
            <a:ext cx="2103120" cy="1371600"/>
          </a:xfrm>
          <a:prstGeom prst="rect">
            <a:avLst/>
          </a:prstGeom>
          <a:noFill/>
          <a:ln/>
        </p:spPr>
        <p:txBody>
          <a:bodyPr wrap="square" rtlCol="0" anchor="ctr"/>
          <a:lstStyle/>
          <a:p>
            <a:pPr indent="0" marL="0">
              <a:lnSpc>
                <a:spcPts val="1450"/>
              </a:lnSpc>
              <a:buNone/>
            </a:pPr>
            <a:r>
              <a:rPr lang="en-US" sz="1100" dirty="0">
                <a:solidFill>
                  <a:srgbClr val="334155"/>
                </a:solidFill>
                <a:latin typeface="Arial" pitchFamily="34" charset="0"/>
                <a:ea typeface="Arial" pitchFamily="34" charset="-122"/>
                <a:cs typeface="Arial" pitchFamily="34" charset="-120"/>
              </a:rPr>
              <a:t>Cross-team coordination slows releases and increases the chance of misalignment or service drift.</a:t>
            </a:r>
            <a:endParaRPr lang="en-US" sz="1100" dirty="0"/>
          </a:p>
        </p:txBody>
      </p:sp>
      <p:sp>
        <p:nvSpPr>
          <p:cNvPr id="13" name="Shape 11"/>
          <p:cNvSpPr/>
          <p:nvPr/>
        </p:nvSpPr>
        <p:spPr>
          <a:xfrm>
            <a:off x="6309360" y="1828800"/>
            <a:ext cx="2651760" cy="3200400"/>
          </a:xfrm>
          <a:prstGeom prst="roundRect">
            <a:avLst>
              <a:gd name="adj" fmla="val 2759"/>
            </a:avLst>
          </a:prstGeom>
          <a:solidFill>
            <a:srgbClr val="F4F6F9"/>
          </a:solidFill>
          <a:ln/>
          <a:effectLst>
            <a:outerShdw sx="100000" sy="100000" kx="0" ky="0" algn="bl" rotWithShape="0" blurRad="101600" dist="38100" dir="5400000">
              <a:srgbClr val="94A3B8">
                <a:alpha val="35000"/>
              </a:srgbClr>
            </a:outerShdw>
          </a:effectLst>
        </p:spPr>
      </p:sp>
      <p:sp>
        <p:nvSpPr>
          <p:cNvPr id="14" name="Shape 12"/>
          <p:cNvSpPr/>
          <p:nvPr/>
        </p:nvSpPr>
        <p:spPr>
          <a:xfrm>
            <a:off x="6583680" y="2148840"/>
            <a:ext cx="502920" cy="502920"/>
          </a:xfrm>
          <a:prstGeom prst="roundRect">
            <a:avLst>
              <a:gd name="adj" fmla="val 14545"/>
            </a:avLst>
          </a:prstGeom>
          <a:solidFill>
            <a:srgbClr val="0B1F3A"/>
          </a:solidFill>
          <a:ln/>
        </p:spPr>
      </p:sp>
      <p:sp>
        <p:nvSpPr>
          <p:cNvPr id="15" name="Text 13"/>
          <p:cNvSpPr/>
          <p:nvPr/>
        </p:nvSpPr>
        <p:spPr>
          <a:xfrm>
            <a:off x="6583680" y="214884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6" name="Text 14"/>
          <p:cNvSpPr/>
          <p:nvPr/>
        </p:nvSpPr>
        <p:spPr>
          <a:xfrm>
            <a:off x="6583680" y="2834640"/>
            <a:ext cx="2103120" cy="640080"/>
          </a:xfrm>
          <a:prstGeom prst="rect">
            <a:avLst/>
          </a:prstGeom>
          <a:noFill/>
          <a:ln/>
        </p:spPr>
        <p:txBody>
          <a:bodyPr wrap="square" rtlCol="0" anchor="ctr"/>
          <a:lstStyle/>
          <a:p>
            <a:pPr indent="0" marL="0">
              <a:lnSpc>
                <a:spcPts val="1700"/>
              </a:lnSpc>
              <a:buNone/>
            </a:pPr>
            <a:r>
              <a:rPr lang="en-US" sz="1450" b="1" dirty="0">
                <a:solidFill>
                  <a:srgbClr val="0B1F3A"/>
                </a:solidFill>
                <a:latin typeface="Arial" pitchFamily="34" charset="0"/>
                <a:ea typeface="Arial" pitchFamily="34" charset="-122"/>
                <a:cs typeface="Arial" pitchFamily="34" charset="-120"/>
              </a:rPr>
              <a:t>Customer-facing impact</a:t>
            </a:r>
            <a:endParaRPr lang="en-US" sz="1450" dirty="0"/>
          </a:p>
        </p:txBody>
      </p:sp>
      <p:sp>
        <p:nvSpPr>
          <p:cNvPr id="17" name="Text 15"/>
          <p:cNvSpPr/>
          <p:nvPr/>
        </p:nvSpPr>
        <p:spPr>
          <a:xfrm>
            <a:off x="6583680" y="3520440"/>
            <a:ext cx="2103120" cy="1371600"/>
          </a:xfrm>
          <a:prstGeom prst="rect">
            <a:avLst/>
          </a:prstGeom>
          <a:noFill/>
          <a:ln/>
        </p:spPr>
        <p:txBody>
          <a:bodyPr wrap="square" rtlCol="0" anchor="ctr"/>
          <a:lstStyle/>
          <a:p>
            <a:pPr indent="0" marL="0">
              <a:lnSpc>
                <a:spcPts val="1450"/>
              </a:lnSpc>
              <a:buNone/>
            </a:pPr>
            <a:r>
              <a:rPr lang="en-US" sz="1100" dirty="0">
                <a:solidFill>
                  <a:srgbClr val="334155"/>
                </a:solidFill>
                <a:latin typeface="Arial" pitchFamily="34" charset="0"/>
                <a:ea typeface="Arial" pitchFamily="34" charset="-122"/>
                <a:cs typeface="Arial" pitchFamily="34" charset="-120"/>
              </a:rPr>
              <a:t>Unsynchronized updates surface as outages, latency, or partial feature availability.</a:t>
            </a:r>
            <a:endParaRPr lang="en-US" sz="1100" dirty="0"/>
          </a:p>
        </p:txBody>
      </p:sp>
      <p:sp>
        <p:nvSpPr>
          <p:cNvPr id="18" name="Shape 16"/>
          <p:cNvSpPr/>
          <p:nvPr/>
        </p:nvSpPr>
        <p:spPr>
          <a:xfrm>
            <a:off x="9189720" y="1828800"/>
            <a:ext cx="2651760" cy="3200400"/>
          </a:xfrm>
          <a:prstGeom prst="roundRect">
            <a:avLst>
              <a:gd name="adj" fmla="val 2759"/>
            </a:avLst>
          </a:prstGeom>
          <a:solidFill>
            <a:srgbClr val="F4F6F9"/>
          </a:solidFill>
          <a:ln/>
          <a:effectLst>
            <a:outerShdw sx="100000" sy="100000" kx="0" ky="0" algn="bl" rotWithShape="0" blurRad="101600" dist="38100" dir="5400000">
              <a:srgbClr val="94A3B8">
                <a:alpha val="35000"/>
              </a:srgbClr>
            </a:outerShdw>
          </a:effectLst>
        </p:spPr>
      </p:sp>
      <p:sp>
        <p:nvSpPr>
          <p:cNvPr id="19" name="Shape 17"/>
          <p:cNvSpPr/>
          <p:nvPr/>
        </p:nvSpPr>
        <p:spPr>
          <a:xfrm>
            <a:off x="9464040" y="2148840"/>
            <a:ext cx="502920" cy="502920"/>
          </a:xfrm>
          <a:prstGeom prst="roundRect">
            <a:avLst>
              <a:gd name="adj" fmla="val 14545"/>
            </a:avLst>
          </a:prstGeom>
          <a:solidFill>
            <a:srgbClr val="0B1F3A"/>
          </a:solidFill>
          <a:ln/>
        </p:spPr>
      </p:sp>
      <p:sp>
        <p:nvSpPr>
          <p:cNvPr id="20" name="Text 18"/>
          <p:cNvSpPr/>
          <p:nvPr/>
        </p:nvSpPr>
        <p:spPr>
          <a:xfrm>
            <a:off x="9464040" y="214884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9"/>
          <p:cNvSpPr/>
          <p:nvPr/>
        </p:nvSpPr>
        <p:spPr>
          <a:xfrm>
            <a:off x="9464040" y="2834640"/>
            <a:ext cx="2103120" cy="640080"/>
          </a:xfrm>
          <a:prstGeom prst="rect">
            <a:avLst/>
          </a:prstGeom>
          <a:noFill/>
          <a:ln/>
        </p:spPr>
        <p:txBody>
          <a:bodyPr wrap="square" rtlCol="0" anchor="ctr"/>
          <a:lstStyle/>
          <a:p>
            <a:pPr indent="0" marL="0">
              <a:lnSpc>
                <a:spcPts val="1700"/>
              </a:lnSpc>
              <a:buNone/>
            </a:pPr>
            <a:r>
              <a:rPr lang="en-US" sz="1450" b="1" dirty="0">
                <a:solidFill>
                  <a:srgbClr val="0B1F3A"/>
                </a:solidFill>
                <a:latin typeface="Arial" pitchFamily="34" charset="0"/>
                <a:ea typeface="Arial" pitchFamily="34" charset="-122"/>
                <a:cs typeface="Arial" pitchFamily="34" charset="-120"/>
              </a:rPr>
              <a:t>Rising support cost</a:t>
            </a:r>
            <a:endParaRPr lang="en-US" sz="1450" dirty="0"/>
          </a:p>
        </p:txBody>
      </p:sp>
      <p:sp>
        <p:nvSpPr>
          <p:cNvPr id="22" name="Text 20"/>
          <p:cNvSpPr/>
          <p:nvPr/>
        </p:nvSpPr>
        <p:spPr>
          <a:xfrm>
            <a:off x="9464040" y="3520440"/>
            <a:ext cx="2103120" cy="1371600"/>
          </a:xfrm>
          <a:prstGeom prst="rect">
            <a:avLst/>
          </a:prstGeom>
          <a:noFill/>
          <a:ln/>
        </p:spPr>
        <p:txBody>
          <a:bodyPr wrap="square" rtlCol="0" anchor="ctr"/>
          <a:lstStyle/>
          <a:p>
            <a:pPr indent="0" marL="0">
              <a:lnSpc>
                <a:spcPts val="1450"/>
              </a:lnSpc>
              <a:buNone/>
            </a:pPr>
            <a:r>
              <a:rPr lang="en-US" sz="1100" dirty="0">
                <a:solidFill>
                  <a:srgbClr val="334155"/>
                </a:solidFill>
                <a:latin typeface="Arial" pitchFamily="34" charset="0"/>
                <a:ea typeface="Arial" pitchFamily="34" charset="-122"/>
                <a:cs typeface="Arial" pitchFamily="34" charset="-120"/>
              </a:rPr>
              <a:t>Support teams absorb repeated incidents, delayed diagnosis, and corrective rework.</a:t>
            </a:r>
            <a:endParaRPr lang="en-US" sz="1100" dirty="0"/>
          </a:p>
        </p:txBody>
      </p:sp>
      <p:sp>
        <p:nvSpPr>
          <p:cNvPr id="23" name="Text 21"/>
          <p:cNvSpPr/>
          <p:nvPr/>
        </p:nvSpPr>
        <p:spPr>
          <a:xfrm>
            <a:off x="548640" y="5349240"/>
            <a:ext cx="11064240" cy="640080"/>
          </a:xfrm>
          <a:prstGeom prst="rect">
            <a:avLst/>
          </a:prstGeom>
          <a:noFill/>
          <a:ln/>
        </p:spPr>
        <p:txBody>
          <a:bodyPr wrap="square" rtlCol="0" anchor="ctr"/>
          <a:lstStyle/>
          <a:p>
            <a:pPr indent="0" marL="0">
              <a:buNone/>
            </a:pPr>
            <a:r>
              <a:rPr lang="en-US" sz="1350" i="1" dirty="0">
                <a:solidFill>
                  <a:srgbClr val="334155"/>
                </a:solidFill>
                <a:latin typeface="Arial" pitchFamily="34" charset="0"/>
                <a:ea typeface="Arial" pitchFamily="34" charset="-122"/>
                <a:cs typeface="Arial" pitchFamily="34" charset="-120"/>
              </a:rPr>
              <a:t>Operational inconsistency is a strategic risk — it limits product velocity and platform reliability as the fleet scales.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lnSpc>
                <a:spcPts val="3000"/>
              </a:lnSpc>
              <a:buNone/>
            </a:pPr>
            <a:r>
              <a:rPr lang="en-US" sz="2600" b="1" dirty="0">
                <a:solidFill>
                  <a:srgbClr val="0B1F3A"/>
                </a:solidFill>
                <a:latin typeface="Arial" pitchFamily="34" charset="0"/>
                <a:ea typeface="Arial" pitchFamily="34" charset="-122"/>
                <a:cs typeface="Arial" pitchFamily="34" charset="-120"/>
              </a:rPr>
              <a:t>A multi-plane operating model separates safety from impact</a:t>
            </a:r>
            <a:endParaRPr lang="en-US" sz="2600" dirty="0"/>
          </a:p>
        </p:txBody>
      </p:sp>
      <p:sp>
        <p:nvSpPr>
          <p:cNvPr id="3" name="Text 1"/>
          <p:cNvSpPr/>
          <p:nvPr/>
        </p:nvSpPr>
        <p:spPr>
          <a:xfrm>
            <a:off x="548640" y="1143000"/>
            <a:ext cx="11064240" cy="411480"/>
          </a:xfrm>
          <a:prstGeom prst="rect">
            <a:avLst/>
          </a:prstGeom>
          <a:noFill/>
          <a:ln/>
        </p:spPr>
        <p:txBody>
          <a:bodyPr wrap="square" rtlCol="0" anchor="ctr"/>
          <a:lstStyle/>
          <a:p>
            <a:pPr indent="0" marL="0">
              <a:buNone/>
            </a:pPr>
            <a:r>
              <a:rPr lang="en-US" sz="1300" dirty="0">
                <a:solidFill>
                  <a:srgbClr val="334155"/>
                </a:solidFill>
                <a:latin typeface="Arial" pitchFamily="34" charset="0"/>
                <a:ea typeface="Arial" pitchFamily="34" charset="-122"/>
                <a:cs typeface="Arial" pitchFamily="34" charset="-120"/>
              </a:rPr>
              <a:t>Every request is routed to the operational boundary that matches its risk — not treated as one flat command surface.</a:t>
            </a:r>
            <a:endParaRPr lang="en-US" sz="1300" dirty="0"/>
          </a:p>
        </p:txBody>
      </p:sp>
      <p:sp>
        <p:nvSpPr>
          <p:cNvPr id="4" name="Shape 2"/>
          <p:cNvSpPr/>
          <p:nvPr/>
        </p:nvSpPr>
        <p:spPr>
          <a:xfrm>
            <a:off x="548640" y="2148840"/>
            <a:ext cx="1828800" cy="822960"/>
          </a:xfrm>
          <a:prstGeom prst="roundRect">
            <a:avLst>
              <a:gd name="adj" fmla="val 8889"/>
            </a:avLst>
          </a:prstGeom>
          <a:solidFill>
            <a:srgbClr val="0B1F3A"/>
          </a:solidFill>
          <a:ln/>
        </p:spPr>
      </p:sp>
      <p:sp>
        <p:nvSpPr>
          <p:cNvPr id="5" name="Text 3"/>
          <p:cNvSpPr/>
          <p:nvPr/>
        </p:nvSpPr>
        <p:spPr>
          <a:xfrm>
            <a:off x="548640" y="2148840"/>
            <a:ext cx="1828800" cy="822960"/>
          </a:xfrm>
          <a:prstGeom prst="rect">
            <a:avLst/>
          </a:prstGeom>
          <a:noFill/>
          <a:ln/>
        </p:spPr>
        <p:txBody>
          <a:bodyPr wrap="square" rtlCol="0" anchor="ctr"/>
          <a:lstStyle/>
          <a:p>
            <a:pPr algn="ctr" indent="0" marL="0">
              <a:lnSpc>
                <a:spcPts val="1200"/>
              </a:lnSpc>
              <a:buNone/>
            </a:pPr>
            <a:r>
              <a:rPr lang="en-US" sz="1100" b="1" dirty="0">
                <a:solidFill>
                  <a:srgbClr val="FFFFFF"/>
                </a:solidFill>
                <a:latin typeface="Arial" pitchFamily="34" charset="0"/>
                <a:ea typeface="Arial" pitchFamily="34" charset="-122"/>
                <a:cs typeface="Arial" pitchFamily="34" charset="-120"/>
              </a:rPr>
              <a:t>Cloud /</a:t>
            </a:r>
            <a:endParaRPr lang="en-US" sz="1100" dirty="0"/>
          </a:p>
          <a:p>
            <a:pPr algn="ctr" indent="0" marL="0">
              <a:lnSpc>
                <a:spcPts val="1200"/>
              </a:lnSpc>
              <a:buNone/>
            </a:pPr>
            <a:r>
              <a:rPr lang="en-US" sz="1100" b="1" dirty="0">
                <a:solidFill>
                  <a:srgbClr val="FFFFFF"/>
                </a:solidFill>
                <a:latin typeface="Arial" pitchFamily="34" charset="0"/>
                <a:ea typeface="Arial" pitchFamily="34" charset="-122"/>
                <a:cs typeface="Arial" pitchFamily="34" charset="-120"/>
              </a:rPr>
              <a:t>Operations</a:t>
            </a:r>
            <a:endParaRPr lang="en-US" sz="1100" dirty="0"/>
          </a:p>
          <a:p>
            <a:pPr algn="ctr" indent="0" marL="0">
              <a:lnSpc>
                <a:spcPts val="1200"/>
              </a:lnSpc>
              <a:buNone/>
            </a:pPr>
            <a:r>
              <a:rPr lang="en-US" sz="1100" b="1" dirty="0">
                <a:solidFill>
                  <a:srgbClr val="FFFFFF"/>
                </a:solidFill>
                <a:latin typeface="Arial" pitchFamily="34" charset="0"/>
                <a:ea typeface="Arial" pitchFamily="34" charset="-122"/>
                <a:cs typeface="Arial" pitchFamily="34" charset="-120"/>
              </a:rPr>
              <a:t>Request</a:t>
            </a:r>
            <a:endParaRPr lang="en-US" sz="1100" dirty="0"/>
          </a:p>
        </p:txBody>
      </p:sp>
      <p:sp>
        <p:nvSpPr>
          <p:cNvPr id="6" name="Shape 4"/>
          <p:cNvSpPr/>
          <p:nvPr/>
        </p:nvSpPr>
        <p:spPr>
          <a:xfrm>
            <a:off x="2377440" y="2560320"/>
            <a:ext cx="457200" cy="0"/>
          </a:xfrm>
          <a:prstGeom prst="line">
            <a:avLst/>
          </a:prstGeom>
          <a:noFill/>
          <a:ln w="19050">
            <a:solidFill>
              <a:srgbClr val="CBD5E1"/>
            </a:solidFill>
            <a:prstDash val="solid"/>
          </a:ln>
        </p:spPr>
      </p:sp>
      <p:sp>
        <p:nvSpPr>
          <p:cNvPr id="7" name="Shape 5"/>
          <p:cNvSpPr/>
          <p:nvPr/>
        </p:nvSpPr>
        <p:spPr>
          <a:xfrm>
            <a:off x="2834640" y="2148840"/>
            <a:ext cx="2148840" cy="502920"/>
          </a:xfrm>
          <a:prstGeom prst="roundRect">
            <a:avLst>
              <a:gd name="adj" fmla="val 10909"/>
            </a:avLst>
          </a:prstGeom>
          <a:solidFill>
            <a:srgbClr val="0D9488"/>
          </a:solidFill>
          <a:ln/>
        </p:spPr>
      </p:sp>
      <p:sp>
        <p:nvSpPr>
          <p:cNvPr id="8" name="Text 6"/>
          <p:cNvSpPr/>
          <p:nvPr/>
        </p:nvSpPr>
        <p:spPr>
          <a:xfrm>
            <a:off x="2834640" y="2148840"/>
            <a:ext cx="2148840" cy="50292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TRIAGE</a:t>
            </a:r>
            <a:endParaRPr lang="en-US" sz="1250" dirty="0"/>
          </a:p>
        </p:txBody>
      </p:sp>
      <p:sp>
        <p:nvSpPr>
          <p:cNvPr id="9" name="Shape 7"/>
          <p:cNvSpPr/>
          <p:nvPr/>
        </p:nvSpPr>
        <p:spPr>
          <a:xfrm>
            <a:off x="2834640" y="2788920"/>
            <a:ext cx="2148840" cy="1463040"/>
          </a:xfrm>
          <a:prstGeom prst="roundRect">
            <a:avLst>
              <a:gd name="adj" fmla="val 3750"/>
            </a:avLst>
          </a:prstGeom>
          <a:solidFill>
            <a:srgbClr val="F4F6F9"/>
          </a:solidFill>
          <a:ln w="12700">
            <a:solidFill>
              <a:srgbClr val="E2E8F0"/>
            </a:solidFill>
            <a:prstDash val="solid"/>
          </a:ln>
        </p:spPr>
      </p:sp>
      <p:sp>
        <p:nvSpPr>
          <p:cNvPr id="10" name="Text 8"/>
          <p:cNvSpPr/>
          <p:nvPr/>
        </p:nvSpPr>
        <p:spPr>
          <a:xfrm>
            <a:off x="2971800" y="2926080"/>
            <a:ext cx="1874520" cy="1188720"/>
          </a:xfrm>
          <a:prstGeom prst="rect">
            <a:avLst/>
          </a:prstGeom>
          <a:noFill/>
          <a:ln/>
        </p:spPr>
        <p:txBody>
          <a:bodyPr wrap="square" rtlCol="0" anchor="t"/>
          <a:lstStyle/>
          <a:p>
            <a:pPr indent="0" marL="0">
              <a:lnSpc>
                <a:spcPts val="1450"/>
              </a:lnSpc>
              <a:buNone/>
            </a:pPr>
            <a:r>
              <a:rPr lang="en-US" sz="1150" dirty="0">
                <a:solidFill>
                  <a:srgbClr val="334155"/>
                </a:solidFill>
                <a:latin typeface="Arial" pitchFamily="34" charset="0"/>
                <a:ea typeface="Arial" pitchFamily="34" charset="-122"/>
                <a:cs typeface="Arial" pitchFamily="34" charset="-120"/>
              </a:rPr>
              <a:t>Read-only diagnostics &amp; health checks</a:t>
            </a:r>
            <a:endParaRPr lang="en-US" sz="1150" dirty="0"/>
          </a:p>
        </p:txBody>
      </p:sp>
      <p:sp>
        <p:nvSpPr>
          <p:cNvPr id="11" name="Shape 9"/>
          <p:cNvSpPr/>
          <p:nvPr/>
        </p:nvSpPr>
        <p:spPr>
          <a:xfrm>
            <a:off x="2834640" y="4389120"/>
            <a:ext cx="2148840" cy="685800"/>
          </a:xfrm>
          <a:prstGeom prst="roundRect">
            <a:avLst>
              <a:gd name="adj" fmla="val 8000"/>
            </a:avLst>
          </a:prstGeom>
          <a:ln w="19050">
            <a:solidFill>
              <a:srgbClr val="0D9488"/>
            </a:solidFill>
            <a:prstDash val="solid"/>
          </a:ln>
        </p:spPr>
      </p:sp>
      <p:sp>
        <p:nvSpPr>
          <p:cNvPr id="12" name="Text 10"/>
          <p:cNvSpPr/>
          <p:nvPr/>
        </p:nvSpPr>
        <p:spPr>
          <a:xfrm>
            <a:off x="2926080" y="4389120"/>
            <a:ext cx="1965960" cy="685800"/>
          </a:xfrm>
          <a:prstGeom prst="rect">
            <a:avLst/>
          </a:prstGeom>
          <a:noFill/>
          <a:ln/>
        </p:spPr>
        <p:txBody>
          <a:bodyPr wrap="square" rtlCol="0" anchor="ctr"/>
          <a:lstStyle/>
          <a:p>
            <a:pPr algn="ctr" indent="0" marL="0">
              <a:lnSpc>
                <a:spcPts val="1200"/>
              </a:lnSpc>
              <a:buNone/>
            </a:pPr>
            <a:r>
              <a:rPr lang="en-US" sz="1050" b="1" dirty="0">
                <a:solidFill>
                  <a:srgbClr val="0D9488"/>
                </a:solidFill>
                <a:latin typeface="Arial" pitchFamily="34" charset="0"/>
                <a:ea typeface="Arial" pitchFamily="34" charset="-122"/>
                <a:cs typeface="Arial" pitchFamily="34" charset="-120"/>
              </a:rPr>
              <a:t>Low blast radius</a:t>
            </a:r>
            <a:endParaRPr lang="en-US" sz="1050" dirty="0"/>
          </a:p>
        </p:txBody>
      </p:sp>
      <p:sp>
        <p:nvSpPr>
          <p:cNvPr id="13" name="Shape 11"/>
          <p:cNvSpPr/>
          <p:nvPr/>
        </p:nvSpPr>
        <p:spPr>
          <a:xfrm>
            <a:off x="2377440" y="2560320"/>
            <a:ext cx="2807208" cy="0"/>
          </a:xfrm>
          <a:prstGeom prst="line">
            <a:avLst/>
          </a:prstGeom>
          <a:noFill/>
          <a:ln w="19050">
            <a:solidFill>
              <a:srgbClr val="CBD5E1"/>
            </a:solidFill>
            <a:prstDash val="solid"/>
          </a:ln>
        </p:spPr>
      </p:sp>
      <p:sp>
        <p:nvSpPr>
          <p:cNvPr id="14" name="Shape 12"/>
          <p:cNvSpPr/>
          <p:nvPr/>
        </p:nvSpPr>
        <p:spPr>
          <a:xfrm>
            <a:off x="5184648" y="2148840"/>
            <a:ext cx="2148840" cy="502920"/>
          </a:xfrm>
          <a:prstGeom prst="roundRect">
            <a:avLst>
              <a:gd name="adj" fmla="val 10909"/>
            </a:avLst>
          </a:prstGeom>
          <a:solidFill>
            <a:srgbClr val="2563EB"/>
          </a:solidFill>
          <a:ln/>
        </p:spPr>
      </p:sp>
      <p:sp>
        <p:nvSpPr>
          <p:cNvPr id="15" name="Text 13"/>
          <p:cNvSpPr/>
          <p:nvPr/>
        </p:nvSpPr>
        <p:spPr>
          <a:xfrm>
            <a:off x="5184648" y="2148840"/>
            <a:ext cx="2148840" cy="50292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MANAGEMENT</a:t>
            </a:r>
            <a:endParaRPr lang="en-US" sz="1250" dirty="0"/>
          </a:p>
        </p:txBody>
      </p:sp>
      <p:sp>
        <p:nvSpPr>
          <p:cNvPr id="16" name="Shape 14"/>
          <p:cNvSpPr/>
          <p:nvPr/>
        </p:nvSpPr>
        <p:spPr>
          <a:xfrm>
            <a:off x="5184648" y="2788920"/>
            <a:ext cx="2148840" cy="1463040"/>
          </a:xfrm>
          <a:prstGeom prst="roundRect">
            <a:avLst>
              <a:gd name="adj" fmla="val 3750"/>
            </a:avLst>
          </a:prstGeom>
          <a:solidFill>
            <a:srgbClr val="F4F6F9"/>
          </a:solidFill>
          <a:ln w="12700">
            <a:solidFill>
              <a:srgbClr val="E2E8F0"/>
            </a:solidFill>
            <a:prstDash val="solid"/>
          </a:ln>
        </p:spPr>
      </p:sp>
      <p:sp>
        <p:nvSpPr>
          <p:cNvPr id="17" name="Text 15"/>
          <p:cNvSpPr/>
          <p:nvPr/>
        </p:nvSpPr>
        <p:spPr>
          <a:xfrm>
            <a:off x="5321808" y="2926080"/>
            <a:ext cx="1874520" cy="1188720"/>
          </a:xfrm>
          <a:prstGeom prst="rect">
            <a:avLst/>
          </a:prstGeom>
          <a:noFill/>
          <a:ln/>
        </p:spPr>
        <p:txBody>
          <a:bodyPr wrap="square" rtlCol="0" anchor="t"/>
          <a:lstStyle/>
          <a:p>
            <a:pPr indent="0" marL="0">
              <a:lnSpc>
                <a:spcPts val="1450"/>
              </a:lnSpc>
              <a:buNone/>
            </a:pPr>
            <a:r>
              <a:rPr lang="en-US" sz="1150" dirty="0">
                <a:solidFill>
                  <a:srgbClr val="334155"/>
                </a:solidFill>
                <a:latin typeface="Arial" pitchFamily="34" charset="0"/>
                <a:ea typeface="Arial" pitchFamily="34" charset="-122"/>
                <a:cs typeface="Arial" pitchFamily="34" charset="-120"/>
              </a:rPr>
              <a:t>Operational actions &amp; service oversight</a:t>
            </a:r>
            <a:endParaRPr lang="en-US" sz="1150" dirty="0"/>
          </a:p>
        </p:txBody>
      </p:sp>
      <p:sp>
        <p:nvSpPr>
          <p:cNvPr id="18" name="Shape 16"/>
          <p:cNvSpPr/>
          <p:nvPr/>
        </p:nvSpPr>
        <p:spPr>
          <a:xfrm>
            <a:off x="5184648" y="4389120"/>
            <a:ext cx="2148840" cy="685800"/>
          </a:xfrm>
          <a:prstGeom prst="roundRect">
            <a:avLst>
              <a:gd name="adj" fmla="val 8000"/>
            </a:avLst>
          </a:prstGeom>
          <a:ln w="19050">
            <a:solidFill>
              <a:srgbClr val="2563EB"/>
            </a:solidFill>
            <a:prstDash val="solid"/>
          </a:ln>
        </p:spPr>
      </p:sp>
      <p:sp>
        <p:nvSpPr>
          <p:cNvPr id="19" name="Text 17"/>
          <p:cNvSpPr/>
          <p:nvPr/>
        </p:nvSpPr>
        <p:spPr>
          <a:xfrm>
            <a:off x="5276088" y="4389120"/>
            <a:ext cx="1965960" cy="685800"/>
          </a:xfrm>
          <a:prstGeom prst="rect">
            <a:avLst/>
          </a:prstGeom>
          <a:noFill/>
          <a:ln/>
        </p:spPr>
        <p:txBody>
          <a:bodyPr wrap="square" rtlCol="0" anchor="ctr"/>
          <a:lstStyle/>
          <a:p>
            <a:pPr algn="ctr" indent="0" marL="0">
              <a:lnSpc>
                <a:spcPts val="1200"/>
              </a:lnSpc>
              <a:buNone/>
            </a:pPr>
            <a:r>
              <a:rPr lang="en-US" sz="1050" b="1" dirty="0">
                <a:solidFill>
                  <a:srgbClr val="2563EB"/>
                </a:solidFill>
                <a:latin typeface="Arial" pitchFamily="34" charset="0"/>
                <a:ea typeface="Arial" pitchFamily="34" charset="-122"/>
                <a:cs typeface="Arial" pitchFamily="34" charset="-120"/>
              </a:rPr>
              <a:t>Moderate operational risk</a:t>
            </a:r>
            <a:endParaRPr lang="en-US" sz="1050" dirty="0"/>
          </a:p>
        </p:txBody>
      </p:sp>
      <p:sp>
        <p:nvSpPr>
          <p:cNvPr id="20" name="Shape 18"/>
          <p:cNvSpPr/>
          <p:nvPr/>
        </p:nvSpPr>
        <p:spPr>
          <a:xfrm>
            <a:off x="2377440" y="2560320"/>
            <a:ext cx="5157216" cy="0"/>
          </a:xfrm>
          <a:prstGeom prst="line">
            <a:avLst/>
          </a:prstGeom>
          <a:noFill/>
          <a:ln w="19050">
            <a:solidFill>
              <a:srgbClr val="CBD5E1"/>
            </a:solidFill>
            <a:prstDash val="solid"/>
          </a:ln>
        </p:spPr>
      </p:sp>
      <p:sp>
        <p:nvSpPr>
          <p:cNvPr id="21" name="Shape 19"/>
          <p:cNvSpPr/>
          <p:nvPr/>
        </p:nvSpPr>
        <p:spPr>
          <a:xfrm>
            <a:off x="7534656" y="2148840"/>
            <a:ext cx="2148840" cy="502920"/>
          </a:xfrm>
          <a:prstGeom prst="roundRect">
            <a:avLst>
              <a:gd name="adj" fmla="val 10909"/>
            </a:avLst>
          </a:prstGeom>
          <a:solidFill>
            <a:srgbClr val="D97706"/>
          </a:solidFill>
          <a:ln/>
        </p:spPr>
      </p:sp>
      <p:sp>
        <p:nvSpPr>
          <p:cNvPr id="22" name="Text 20"/>
          <p:cNvSpPr/>
          <p:nvPr/>
        </p:nvSpPr>
        <p:spPr>
          <a:xfrm>
            <a:off x="7534656" y="2148840"/>
            <a:ext cx="2148840" cy="50292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CONTROL</a:t>
            </a:r>
            <a:endParaRPr lang="en-US" sz="1250" dirty="0"/>
          </a:p>
        </p:txBody>
      </p:sp>
      <p:sp>
        <p:nvSpPr>
          <p:cNvPr id="23" name="Shape 21"/>
          <p:cNvSpPr/>
          <p:nvPr/>
        </p:nvSpPr>
        <p:spPr>
          <a:xfrm>
            <a:off x="7534656" y="2788920"/>
            <a:ext cx="2148840" cy="1463040"/>
          </a:xfrm>
          <a:prstGeom prst="roundRect">
            <a:avLst>
              <a:gd name="adj" fmla="val 3750"/>
            </a:avLst>
          </a:prstGeom>
          <a:solidFill>
            <a:srgbClr val="F4F6F9"/>
          </a:solidFill>
          <a:ln w="12700">
            <a:solidFill>
              <a:srgbClr val="E2E8F0"/>
            </a:solidFill>
            <a:prstDash val="solid"/>
          </a:ln>
        </p:spPr>
      </p:sp>
      <p:sp>
        <p:nvSpPr>
          <p:cNvPr id="24" name="Text 22"/>
          <p:cNvSpPr/>
          <p:nvPr/>
        </p:nvSpPr>
        <p:spPr>
          <a:xfrm>
            <a:off x="7671816" y="2926080"/>
            <a:ext cx="1874520" cy="1188720"/>
          </a:xfrm>
          <a:prstGeom prst="rect">
            <a:avLst/>
          </a:prstGeom>
          <a:noFill/>
          <a:ln/>
        </p:spPr>
        <p:txBody>
          <a:bodyPr wrap="square" rtlCol="0" anchor="t"/>
          <a:lstStyle/>
          <a:p>
            <a:pPr indent="0" marL="0">
              <a:lnSpc>
                <a:spcPts val="1450"/>
              </a:lnSpc>
              <a:buNone/>
            </a:pPr>
            <a:r>
              <a:rPr lang="en-US" sz="1150" dirty="0">
                <a:solidFill>
                  <a:srgbClr val="334155"/>
                </a:solidFill>
                <a:latin typeface="Arial" pitchFamily="34" charset="0"/>
                <a:ea typeface="Arial" pitchFamily="34" charset="-122"/>
                <a:cs typeface="Arial" pitchFamily="34" charset="-120"/>
              </a:rPr>
              <a:t>Runtime toggles &amp; policy changes</a:t>
            </a:r>
            <a:endParaRPr lang="en-US" sz="1150" dirty="0"/>
          </a:p>
        </p:txBody>
      </p:sp>
      <p:sp>
        <p:nvSpPr>
          <p:cNvPr id="25" name="Shape 23"/>
          <p:cNvSpPr/>
          <p:nvPr/>
        </p:nvSpPr>
        <p:spPr>
          <a:xfrm>
            <a:off x="7534656" y="4389120"/>
            <a:ext cx="2148840" cy="685800"/>
          </a:xfrm>
          <a:prstGeom prst="roundRect">
            <a:avLst>
              <a:gd name="adj" fmla="val 8000"/>
            </a:avLst>
          </a:prstGeom>
          <a:ln w="19050">
            <a:solidFill>
              <a:srgbClr val="D97706"/>
            </a:solidFill>
            <a:prstDash val="solid"/>
          </a:ln>
        </p:spPr>
      </p:sp>
      <p:sp>
        <p:nvSpPr>
          <p:cNvPr id="26" name="Text 24"/>
          <p:cNvSpPr/>
          <p:nvPr/>
        </p:nvSpPr>
        <p:spPr>
          <a:xfrm>
            <a:off x="7626096" y="4389120"/>
            <a:ext cx="1965960" cy="685800"/>
          </a:xfrm>
          <a:prstGeom prst="rect">
            <a:avLst/>
          </a:prstGeom>
          <a:noFill/>
          <a:ln/>
        </p:spPr>
        <p:txBody>
          <a:bodyPr wrap="square" rtlCol="0" anchor="ctr"/>
          <a:lstStyle/>
          <a:p>
            <a:pPr algn="ctr" indent="0" marL="0">
              <a:lnSpc>
                <a:spcPts val="1200"/>
              </a:lnSpc>
              <a:buNone/>
            </a:pPr>
            <a:r>
              <a:rPr lang="en-US" sz="1050" b="1" dirty="0">
                <a:solidFill>
                  <a:srgbClr val="D97706"/>
                </a:solidFill>
                <a:latin typeface="Arial" pitchFamily="34" charset="0"/>
                <a:ea typeface="Arial" pitchFamily="34" charset="-122"/>
                <a:cs typeface="Arial" pitchFamily="34" charset="-120"/>
              </a:rPr>
              <a:t>Controlled runtime change</a:t>
            </a:r>
            <a:endParaRPr lang="en-US" sz="1050" dirty="0"/>
          </a:p>
        </p:txBody>
      </p:sp>
      <p:sp>
        <p:nvSpPr>
          <p:cNvPr id="27" name="Shape 25"/>
          <p:cNvSpPr/>
          <p:nvPr/>
        </p:nvSpPr>
        <p:spPr>
          <a:xfrm>
            <a:off x="2377440" y="2560320"/>
            <a:ext cx="7507224" cy="0"/>
          </a:xfrm>
          <a:prstGeom prst="line">
            <a:avLst/>
          </a:prstGeom>
          <a:noFill/>
          <a:ln w="19050">
            <a:solidFill>
              <a:srgbClr val="CBD5E1"/>
            </a:solidFill>
            <a:prstDash val="solid"/>
          </a:ln>
        </p:spPr>
      </p:sp>
      <p:sp>
        <p:nvSpPr>
          <p:cNvPr id="28" name="Shape 26"/>
          <p:cNvSpPr/>
          <p:nvPr/>
        </p:nvSpPr>
        <p:spPr>
          <a:xfrm>
            <a:off x="9884664" y="2148840"/>
            <a:ext cx="2148840" cy="502920"/>
          </a:xfrm>
          <a:prstGeom prst="roundRect">
            <a:avLst>
              <a:gd name="adj" fmla="val 10909"/>
            </a:avLst>
          </a:prstGeom>
          <a:solidFill>
            <a:srgbClr val="DC2626"/>
          </a:solidFill>
          <a:ln/>
        </p:spPr>
      </p:sp>
      <p:sp>
        <p:nvSpPr>
          <p:cNvPr id="29" name="Text 27"/>
          <p:cNvSpPr/>
          <p:nvPr/>
        </p:nvSpPr>
        <p:spPr>
          <a:xfrm>
            <a:off x="9884664" y="2148840"/>
            <a:ext cx="2148840" cy="50292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CONFIG-APPLY</a:t>
            </a:r>
            <a:endParaRPr lang="en-US" sz="1250" dirty="0"/>
          </a:p>
        </p:txBody>
      </p:sp>
      <p:sp>
        <p:nvSpPr>
          <p:cNvPr id="30" name="Shape 28"/>
          <p:cNvSpPr/>
          <p:nvPr/>
        </p:nvSpPr>
        <p:spPr>
          <a:xfrm>
            <a:off x="9884664" y="2788920"/>
            <a:ext cx="2148840" cy="1463040"/>
          </a:xfrm>
          <a:prstGeom prst="roundRect">
            <a:avLst>
              <a:gd name="adj" fmla="val 3750"/>
            </a:avLst>
          </a:prstGeom>
          <a:solidFill>
            <a:srgbClr val="F4F6F9"/>
          </a:solidFill>
          <a:ln w="12700">
            <a:solidFill>
              <a:srgbClr val="E2E8F0"/>
            </a:solidFill>
            <a:prstDash val="solid"/>
          </a:ln>
        </p:spPr>
      </p:sp>
      <p:sp>
        <p:nvSpPr>
          <p:cNvPr id="31" name="Text 29"/>
          <p:cNvSpPr/>
          <p:nvPr/>
        </p:nvSpPr>
        <p:spPr>
          <a:xfrm>
            <a:off x="10021824" y="2926080"/>
            <a:ext cx="1874520" cy="1188720"/>
          </a:xfrm>
          <a:prstGeom prst="rect">
            <a:avLst/>
          </a:prstGeom>
          <a:noFill/>
          <a:ln/>
        </p:spPr>
        <p:txBody>
          <a:bodyPr wrap="square" rtlCol="0" anchor="t"/>
          <a:lstStyle/>
          <a:p>
            <a:pPr indent="0" marL="0">
              <a:lnSpc>
                <a:spcPts val="1450"/>
              </a:lnSpc>
              <a:buNone/>
            </a:pPr>
            <a:r>
              <a:rPr lang="en-US" sz="1150" dirty="0">
                <a:solidFill>
                  <a:srgbClr val="334155"/>
                </a:solidFill>
                <a:latin typeface="Arial" pitchFamily="34" charset="0"/>
                <a:ea typeface="Arial" pitchFamily="34" charset="-122"/>
                <a:cs typeface="Arial" pitchFamily="34" charset="-120"/>
              </a:rPr>
              <a:t>Mutation, validation &amp; rollback</a:t>
            </a:r>
            <a:endParaRPr lang="en-US" sz="1150" dirty="0"/>
          </a:p>
        </p:txBody>
      </p:sp>
      <p:sp>
        <p:nvSpPr>
          <p:cNvPr id="32" name="Shape 30"/>
          <p:cNvSpPr/>
          <p:nvPr/>
        </p:nvSpPr>
        <p:spPr>
          <a:xfrm>
            <a:off x="9884664" y="4389120"/>
            <a:ext cx="2148840" cy="685800"/>
          </a:xfrm>
          <a:prstGeom prst="roundRect">
            <a:avLst>
              <a:gd name="adj" fmla="val 8000"/>
            </a:avLst>
          </a:prstGeom>
          <a:ln w="19050">
            <a:solidFill>
              <a:srgbClr val="DC2626"/>
            </a:solidFill>
            <a:prstDash val="solid"/>
          </a:ln>
        </p:spPr>
      </p:sp>
      <p:sp>
        <p:nvSpPr>
          <p:cNvPr id="33" name="Text 31"/>
          <p:cNvSpPr/>
          <p:nvPr/>
        </p:nvSpPr>
        <p:spPr>
          <a:xfrm>
            <a:off x="9976104" y="4389120"/>
            <a:ext cx="1965960" cy="685800"/>
          </a:xfrm>
          <a:prstGeom prst="rect">
            <a:avLst/>
          </a:prstGeom>
          <a:noFill/>
          <a:ln/>
        </p:spPr>
        <p:txBody>
          <a:bodyPr wrap="square" rtlCol="0" anchor="ctr"/>
          <a:lstStyle/>
          <a:p>
            <a:pPr algn="ctr" indent="0" marL="0">
              <a:lnSpc>
                <a:spcPts val="1200"/>
              </a:lnSpc>
              <a:buNone/>
            </a:pPr>
            <a:r>
              <a:rPr lang="en-US" sz="1050" b="1" dirty="0">
                <a:solidFill>
                  <a:srgbClr val="DC2626"/>
                </a:solidFill>
                <a:latin typeface="Arial" pitchFamily="34" charset="0"/>
                <a:ea typeface="Arial" pitchFamily="34" charset="-122"/>
                <a:cs typeface="Arial" pitchFamily="34" charset="-120"/>
              </a:rPr>
              <a:t>High-impact change path</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457200"/>
            <a:ext cx="11064240" cy="914400"/>
          </a:xfrm>
          <a:prstGeom prst="rect">
            <a:avLst/>
          </a:prstGeom>
          <a:noFill/>
          <a:ln/>
        </p:spPr>
        <p:txBody>
          <a:bodyPr wrap="square" rtlCol="0" anchor="ctr"/>
          <a:lstStyle/>
          <a:p>
            <a:pPr indent="0" marL="0">
              <a:lnSpc>
                <a:spcPts val="3000"/>
              </a:lnSpc>
              <a:buNone/>
            </a:pPr>
            <a:r>
              <a:rPr lang="en-US" sz="2600" b="1" dirty="0">
                <a:solidFill>
                  <a:srgbClr val="FFFFFF"/>
                </a:solidFill>
                <a:latin typeface="Arial" pitchFamily="34" charset="0"/>
                <a:ea typeface="Arial" pitchFamily="34" charset="-122"/>
                <a:cs typeface="Arial" pitchFamily="34" charset="-120"/>
              </a:rPr>
              <a:t>The platform delivers measurable value through speed, stability, and cost</a:t>
            </a:r>
            <a:endParaRPr lang="en-US" sz="2600" dirty="0"/>
          </a:p>
        </p:txBody>
      </p:sp>
      <p:sp>
        <p:nvSpPr>
          <p:cNvPr id="3" name="Shape 1"/>
          <p:cNvSpPr/>
          <p:nvPr/>
        </p:nvSpPr>
        <p:spPr>
          <a:xfrm>
            <a:off x="548640" y="1691640"/>
            <a:ext cx="3520440" cy="1965960"/>
          </a:xfrm>
          <a:prstGeom prst="roundRect">
            <a:avLst>
              <a:gd name="adj" fmla="val 3721"/>
            </a:avLst>
          </a:prstGeom>
          <a:solidFill>
            <a:srgbClr val="13294B"/>
          </a:solidFill>
          <a:ln/>
        </p:spPr>
      </p:sp>
      <p:sp>
        <p:nvSpPr>
          <p:cNvPr id="4" name="Shape 2"/>
          <p:cNvSpPr/>
          <p:nvPr/>
        </p:nvSpPr>
        <p:spPr>
          <a:xfrm>
            <a:off x="804672" y="1947672"/>
            <a:ext cx="457200" cy="73152"/>
          </a:xfrm>
          <a:prstGeom prst="roundRect">
            <a:avLst/>
          </a:prstGeom>
          <a:solidFill>
            <a:srgbClr val="0D9488"/>
          </a:solidFill>
          <a:ln/>
        </p:spPr>
      </p:sp>
      <p:sp>
        <p:nvSpPr>
          <p:cNvPr id="5" name="Text 3"/>
          <p:cNvSpPr/>
          <p:nvPr/>
        </p:nvSpPr>
        <p:spPr>
          <a:xfrm>
            <a:off x="804672" y="2148840"/>
            <a:ext cx="3008376" cy="457200"/>
          </a:xfrm>
          <a:prstGeom prst="rect">
            <a:avLst/>
          </a:prstGeom>
          <a:noFill/>
          <a:ln/>
        </p:spPr>
        <p:txBody>
          <a:bodyPr wrap="square" rtlCol="0" anchor="ctr"/>
          <a:lstStyle/>
          <a:p>
            <a:pPr indent="0" marL="0">
              <a:buNone/>
            </a:pPr>
            <a:r>
              <a:rPr lang="en-US" sz="1550" b="1" dirty="0">
                <a:solidFill>
                  <a:srgbClr val="FFFFFF"/>
                </a:solidFill>
                <a:latin typeface="Arial" pitchFamily="34" charset="0"/>
                <a:ea typeface="Arial" pitchFamily="34" charset="-122"/>
                <a:cs typeface="Arial" pitchFamily="34" charset="-120"/>
              </a:rPr>
              <a:t>Faster releases</a:t>
            </a:r>
            <a:endParaRPr lang="en-US" sz="1550" dirty="0"/>
          </a:p>
        </p:txBody>
      </p:sp>
      <p:sp>
        <p:nvSpPr>
          <p:cNvPr id="6" name="Text 4"/>
          <p:cNvSpPr/>
          <p:nvPr/>
        </p:nvSpPr>
        <p:spPr>
          <a:xfrm>
            <a:off x="804672" y="2651760"/>
            <a:ext cx="3008376" cy="914400"/>
          </a:xfrm>
          <a:prstGeom prst="rect">
            <a:avLst/>
          </a:prstGeom>
          <a:noFill/>
          <a:ln/>
        </p:spPr>
        <p:txBody>
          <a:bodyPr wrap="square" rtlCol="0" anchor="ctr"/>
          <a:lstStyle/>
          <a:p>
            <a:pPr indent="0" marL="0">
              <a:lnSpc>
                <a:spcPts val="1500"/>
              </a:lnSpc>
              <a:buNone/>
            </a:pPr>
            <a:r>
              <a:rPr lang="en-US" sz="1150" dirty="0">
                <a:solidFill>
                  <a:srgbClr val="C7D2E3"/>
                </a:solidFill>
                <a:latin typeface="Arial" pitchFamily="34" charset="0"/>
                <a:ea typeface="Arial" pitchFamily="34" charset="-122"/>
                <a:cs typeface="Arial" pitchFamily="34" charset="-120"/>
              </a:rPr>
              <a:t>Changes coordinate through a standard process instead of manual intervention.</a:t>
            </a:r>
            <a:endParaRPr lang="en-US" sz="1150" dirty="0"/>
          </a:p>
        </p:txBody>
      </p:sp>
      <p:sp>
        <p:nvSpPr>
          <p:cNvPr id="7" name="Shape 5"/>
          <p:cNvSpPr/>
          <p:nvPr/>
        </p:nvSpPr>
        <p:spPr>
          <a:xfrm>
            <a:off x="4297680" y="1691640"/>
            <a:ext cx="3520440" cy="1965960"/>
          </a:xfrm>
          <a:prstGeom prst="roundRect">
            <a:avLst>
              <a:gd name="adj" fmla="val 3721"/>
            </a:avLst>
          </a:prstGeom>
          <a:solidFill>
            <a:srgbClr val="13294B"/>
          </a:solidFill>
          <a:ln/>
        </p:spPr>
      </p:sp>
      <p:sp>
        <p:nvSpPr>
          <p:cNvPr id="8" name="Shape 6"/>
          <p:cNvSpPr/>
          <p:nvPr/>
        </p:nvSpPr>
        <p:spPr>
          <a:xfrm>
            <a:off x="4553712" y="1947672"/>
            <a:ext cx="457200" cy="73152"/>
          </a:xfrm>
          <a:prstGeom prst="roundRect">
            <a:avLst/>
          </a:prstGeom>
          <a:solidFill>
            <a:srgbClr val="0D9488"/>
          </a:solidFill>
          <a:ln/>
        </p:spPr>
      </p:sp>
      <p:sp>
        <p:nvSpPr>
          <p:cNvPr id="9" name="Text 7"/>
          <p:cNvSpPr/>
          <p:nvPr/>
        </p:nvSpPr>
        <p:spPr>
          <a:xfrm>
            <a:off x="4553712" y="2148840"/>
            <a:ext cx="3008376" cy="457200"/>
          </a:xfrm>
          <a:prstGeom prst="rect">
            <a:avLst/>
          </a:prstGeom>
          <a:noFill/>
          <a:ln/>
        </p:spPr>
        <p:txBody>
          <a:bodyPr wrap="square" rtlCol="0" anchor="ctr"/>
          <a:lstStyle/>
          <a:p>
            <a:pPr indent="0" marL="0">
              <a:buNone/>
            </a:pPr>
            <a:r>
              <a:rPr lang="en-US" sz="1550" b="1" dirty="0">
                <a:solidFill>
                  <a:srgbClr val="FFFFFF"/>
                </a:solidFill>
                <a:latin typeface="Arial" pitchFamily="34" charset="0"/>
                <a:ea typeface="Arial" pitchFamily="34" charset="-122"/>
                <a:cs typeface="Arial" pitchFamily="34" charset="-120"/>
              </a:rPr>
              <a:t>Fewer disruptions</a:t>
            </a:r>
            <a:endParaRPr lang="en-US" sz="1550" dirty="0"/>
          </a:p>
        </p:txBody>
      </p:sp>
      <p:sp>
        <p:nvSpPr>
          <p:cNvPr id="10" name="Text 8"/>
          <p:cNvSpPr/>
          <p:nvPr/>
        </p:nvSpPr>
        <p:spPr>
          <a:xfrm>
            <a:off x="4553712" y="2651760"/>
            <a:ext cx="3008376" cy="914400"/>
          </a:xfrm>
          <a:prstGeom prst="rect">
            <a:avLst/>
          </a:prstGeom>
          <a:noFill/>
          <a:ln/>
        </p:spPr>
        <p:txBody>
          <a:bodyPr wrap="square" rtlCol="0" anchor="ctr"/>
          <a:lstStyle/>
          <a:p>
            <a:pPr indent="0" marL="0">
              <a:lnSpc>
                <a:spcPts val="1500"/>
              </a:lnSpc>
              <a:buNone/>
            </a:pPr>
            <a:r>
              <a:rPr lang="en-US" sz="1150" dirty="0">
                <a:solidFill>
                  <a:srgbClr val="C7D2E3"/>
                </a:solidFill>
                <a:latin typeface="Arial" pitchFamily="34" charset="0"/>
                <a:ea typeface="Arial" pitchFamily="34" charset="-122"/>
                <a:cs typeface="Arial" pitchFamily="34" charset="-120"/>
              </a:rPr>
              <a:t>Health and version state are actively monitored before broad rollout.</a:t>
            </a:r>
            <a:endParaRPr lang="en-US" sz="1150" dirty="0"/>
          </a:p>
        </p:txBody>
      </p:sp>
      <p:sp>
        <p:nvSpPr>
          <p:cNvPr id="11" name="Shape 9"/>
          <p:cNvSpPr/>
          <p:nvPr/>
        </p:nvSpPr>
        <p:spPr>
          <a:xfrm>
            <a:off x="8046720" y="1691640"/>
            <a:ext cx="3520440" cy="1965960"/>
          </a:xfrm>
          <a:prstGeom prst="roundRect">
            <a:avLst>
              <a:gd name="adj" fmla="val 3721"/>
            </a:avLst>
          </a:prstGeom>
          <a:solidFill>
            <a:srgbClr val="13294B"/>
          </a:solidFill>
          <a:ln/>
        </p:spPr>
      </p:sp>
      <p:sp>
        <p:nvSpPr>
          <p:cNvPr id="12" name="Shape 10"/>
          <p:cNvSpPr/>
          <p:nvPr/>
        </p:nvSpPr>
        <p:spPr>
          <a:xfrm>
            <a:off x="8302752" y="1947672"/>
            <a:ext cx="457200" cy="73152"/>
          </a:xfrm>
          <a:prstGeom prst="roundRect">
            <a:avLst/>
          </a:prstGeom>
          <a:solidFill>
            <a:srgbClr val="0D9488"/>
          </a:solidFill>
          <a:ln/>
        </p:spPr>
      </p:sp>
      <p:sp>
        <p:nvSpPr>
          <p:cNvPr id="13" name="Text 11"/>
          <p:cNvSpPr/>
          <p:nvPr/>
        </p:nvSpPr>
        <p:spPr>
          <a:xfrm>
            <a:off x="8302752" y="2148840"/>
            <a:ext cx="3008376" cy="457200"/>
          </a:xfrm>
          <a:prstGeom prst="rect">
            <a:avLst/>
          </a:prstGeom>
          <a:noFill/>
          <a:ln/>
        </p:spPr>
        <p:txBody>
          <a:bodyPr wrap="square" rtlCol="0" anchor="ctr"/>
          <a:lstStyle/>
          <a:p>
            <a:pPr indent="0" marL="0">
              <a:buNone/>
            </a:pPr>
            <a:r>
              <a:rPr lang="en-US" sz="1550" b="1" dirty="0">
                <a:solidFill>
                  <a:srgbClr val="FFFFFF"/>
                </a:solidFill>
                <a:latin typeface="Arial" pitchFamily="34" charset="0"/>
                <a:ea typeface="Arial" pitchFamily="34" charset="-122"/>
                <a:cs typeface="Arial" pitchFamily="34" charset="-120"/>
              </a:rPr>
              <a:t>Lower support load</a:t>
            </a:r>
            <a:endParaRPr lang="en-US" sz="1550" dirty="0"/>
          </a:p>
        </p:txBody>
      </p:sp>
      <p:sp>
        <p:nvSpPr>
          <p:cNvPr id="14" name="Text 12"/>
          <p:cNvSpPr/>
          <p:nvPr/>
        </p:nvSpPr>
        <p:spPr>
          <a:xfrm>
            <a:off x="8302752" y="2651760"/>
            <a:ext cx="3008376" cy="914400"/>
          </a:xfrm>
          <a:prstGeom prst="rect">
            <a:avLst/>
          </a:prstGeom>
          <a:noFill/>
          <a:ln/>
        </p:spPr>
        <p:txBody>
          <a:bodyPr wrap="square" rtlCol="0" anchor="ctr"/>
          <a:lstStyle/>
          <a:p>
            <a:pPr indent="0" marL="0">
              <a:lnSpc>
                <a:spcPts val="1500"/>
              </a:lnSpc>
              <a:buNone/>
            </a:pPr>
            <a:r>
              <a:rPr lang="en-US" sz="1150" dirty="0">
                <a:solidFill>
                  <a:srgbClr val="C7D2E3"/>
                </a:solidFill>
                <a:latin typeface="Arial" pitchFamily="34" charset="0"/>
                <a:ea typeface="Arial" pitchFamily="34" charset="-122"/>
                <a:cs typeface="Arial" pitchFamily="34" charset="-120"/>
              </a:rPr>
              <a:t>Less time diagnosing inconsistent environments or stale capabilities.</a:t>
            </a:r>
            <a:endParaRPr lang="en-US" sz="1150" dirty="0"/>
          </a:p>
        </p:txBody>
      </p:sp>
      <p:sp>
        <p:nvSpPr>
          <p:cNvPr id="15" name="Shape 13"/>
          <p:cNvSpPr/>
          <p:nvPr/>
        </p:nvSpPr>
        <p:spPr>
          <a:xfrm>
            <a:off x="548640" y="3931920"/>
            <a:ext cx="3520440" cy="1965960"/>
          </a:xfrm>
          <a:prstGeom prst="roundRect">
            <a:avLst>
              <a:gd name="adj" fmla="val 3721"/>
            </a:avLst>
          </a:prstGeom>
          <a:solidFill>
            <a:srgbClr val="13294B"/>
          </a:solidFill>
          <a:ln/>
        </p:spPr>
      </p:sp>
      <p:sp>
        <p:nvSpPr>
          <p:cNvPr id="16" name="Shape 14"/>
          <p:cNvSpPr/>
          <p:nvPr/>
        </p:nvSpPr>
        <p:spPr>
          <a:xfrm>
            <a:off x="804672" y="4187952"/>
            <a:ext cx="457200" cy="73152"/>
          </a:xfrm>
          <a:prstGeom prst="roundRect">
            <a:avLst/>
          </a:prstGeom>
          <a:solidFill>
            <a:srgbClr val="0D9488"/>
          </a:solidFill>
          <a:ln/>
        </p:spPr>
      </p:sp>
      <p:sp>
        <p:nvSpPr>
          <p:cNvPr id="17" name="Text 15"/>
          <p:cNvSpPr/>
          <p:nvPr/>
        </p:nvSpPr>
        <p:spPr>
          <a:xfrm>
            <a:off x="804672" y="4389120"/>
            <a:ext cx="3008376" cy="457200"/>
          </a:xfrm>
          <a:prstGeom prst="rect">
            <a:avLst/>
          </a:prstGeom>
          <a:noFill/>
          <a:ln/>
        </p:spPr>
        <p:txBody>
          <a:bodyPr wrap="square" rtlCol="0" anchor="ctr"/>
          <a:lstStyle/>
          <a:p>
            <a:pPr indent="0" marL="0">
              <a:buNone/>
            </a:pPr>
            <a:r>
              <a:rPr lang="en-US" sz="1550" b="1" dirty="0">
                <a:solidFill>
                  <a:srgbClr val="FFFFFF"/>
                </a:solidFill>
                <a:latin typeface="Arial" pitchFamily="34" charset="0"/>
                <a:ea typeface="Arial" pitchFamily="34" charset="-122"/>
                <a:cs typeface="Arial" pitchFamily="34" charset="-120"/>
              </a:rPr>
              <a:t>Scale without overhead</a:t>
            </a:r>
            <a:endParaRPr lang="en-US" sz="1550" dirty="0"/>
          </a:p>
        </p:txBody>
      </p:sp>
      <p:sp>
        <p:nvSpPr>
          <p:cNvPr id="18" name="Text 16"/>
          <p:cNvSpPr/>
          <p:nvPr/>
        </p:nvSpPr>
        <p:spPr>
          <a:xfrm>
            <a:off x="804672" y="4892040"/>
            <a:ext cx="3008376" cy="914400"/>
          </a:xfrm>
          <a:prstGeom prst="rect">
            <a:avLst/>
          </a:prstGeom>
          <a:noFill/>
          <a:ln/>
        </p:spPr>
        <p:txBody>
          <a:bodyPr wrap="square" rtlCol="0" anchor="ctr"/>
          <a:lstStyle/>
          <a:p>
            <a:pPr indent="0" marL="0">
              <a:lnSpc>
                <a:spcPts val="1500"/>
              </a:lnSpc>
              <a:buNone/>
            </a:pPr>
            <a:r>
              <a:rPr lang="en-US" sz="1150" dirty="0">
                <a:solidFill>
                  <a:srgbClr val="C7D2E3"/>
                </a:solidFill>
                <a:latin typeface="Arial" pitchFamily="34" charset="0"/>
                <a:ea typeface="Arial" pitchFamily="34" charset="-122"/>
                <a:cs typeface="Arial" pitchFamily="34" charset="-120"/>
              </a:rPr>
              <a:t>More environments supported without proportional management cost.</a:t>
            </a:r>
            <a:endParaRPr lang="en-US" sz="1150" dirty="0"/>
          </a:p>
        </p:txBody>
      </p:sp>
      <p:sp>
        <p:nvSpPr>
          <p:cNvPr id="19" name="Shape 17"/>
          <p:cNvSpPr/>
          <p:nvPr/>
        </p:nvSpPr>
        <p:spPr>
          <a:xfrm>
            <a:off x="4297680" y="3931920"/>
            <a:ext cx="3520440" cy="1965960"/>
          </a:xfrm>
          <a:prstGeom prst="roundRect">
            <a:avLst>
              <a:gd name="adj" fmla="val 3721"/>
            </a:avLst>
          </a:prstGeom>
          <a:solidFill>
            <a:srgbClr val="13294B"/>
          </a:solidFill>
          <a:ln/>
        </p:spPr>
      </p:sp>
      <p:sp>
        <p:nvSpPr>
          <p:cNvPr id="20" name="Shape 18"/>
          <p:cNvSpPr/>
          <p:nvPr/>
        </p:nvSpPr>
        <p:spPr>
          <a:xfrm>
            <a:off x="4553712" y="4187952"/>
            <a:ext cx="457200" cy="73152"/>
          </a:xfrm>
          <a:prstGeom prst="roundRect">
            <a:avLst/>
          </a:prstGeom>
          <a:solidFill>
            <a:srgbClr val="0D9488"/>
          </a:solidFill>
          <a:ln/>
        </p:spPr>
      </p:sp>
      <p:sp>
        <p:nvSpPr>
          <p:cNvPr id="21" name="Text 19"/>
          <p:cNvSpPr/>
          <p:nvPr/>
        </p:nvSpPr>
        <p:spPr>
          <a:xfrm>
            <a:off x="4553712" y="4389120"/>
            <a:ext cx="3008376" cy="457200"/>
          </a:xfrm>
          <a:prstGeom prst="rect">
            <a:avLst/>
          </a:prstGeom>
          <a:noFill/>
          <a:ln/>
        </p:spPr>
        <p:txBody>
          <a:bodyPr wrap="square" rtlCol="0" anchor="ctr"/>
          <a:lstStyle/>
          <a:p>
            <a:pPr indent="0" marL="0">
              <a:buNone/>
            </a:pPr>
            <a:r>
              <a:rPr lang="en-US" sz="1550" b="1" dirty="0">
                <a:solidFill>
                  <a:srgbClr val="FFFFFF"/>
                </a:solidFill>
                <a:latin typeface="Arial" pitchFamily="34" charset="0"/>
                <a:ea typeface="Arial" pitchFamily="34" charset="-122"/>
                <a:cs typeface="Arial" pitchFamily="34" charset="-120"/>
              </a:rPr>
              <a:t>Stronger reliability</a:t>
            </a:r>
            <a:endParaRPr lang="en-US" sz="1550" dirty="0"/>
          </a:p>
        </p:txBody>
      </p:sp>
      <p:sp>
        <p:nvSpPr>
          <p:cNvPr id="22" name="Text 20"/>
          <p:cNvSpPr/>
          <p:nvPr/>
        </p:nvSpPr>
        <p:spPr>
          <a:xfrm>
            <a:off x="4553712" y="4892040"/>
            <a:ext cx="3008376" cy="914400"/>
          </a:xfrm>
          <a:prstGeom prst="rect">
            <a:avLst/>
          </a:prstGeom>
          <a:noFill/>
          <a:ln/>
        </p:spPr>
        <p:txBody>
          <a:bodyPr wrap="square" rtlCol="0" anchor="ctr"/>
          <a:lstStyle/>
          <a:p>
            <a:pPr indent="0" marL="0">
              <a:lnSpc>
                <a:spcPts val="1500"/>
              </a:lnSpc>
              <a:buNone/>
            </a:pPr>
            <a:r>
              <a:rPr lang="en-US" sz="1150" dirty="0">
                <a:solidFill>
                  <a:srgbClr val="C7D2E3"/>
                </a:solidFill>
                <a:latin typeface="Arial" pitchFamily="34" charset="0"/>
                <a:ea typeface="Arial" pitchFamily="34" charset="-122"/>
                <a:cs typeface="Arial" pitchFamily="34" charset="-120"/>
              </a:rPr>
              <a:t>More predictable feature availability and fewer failed updates.</a:t>
            </a:r>
            <a:endParaRPr lang="en-US" sz="1150" dirty="0"/>
          </a:p>
        </p:txBody>
      </p:sp>
      <p:sp>
        <p:nvSpPr>
          <p:cNvPr id="23" name="Shape 21"/>
          <p:cNvSpPr/>
          <p:nvPr/>
        </p:nvSpPr>
        <p:spPr>
          <a:xfrm>
            <a:off x="8046720" y="3931920"/>
            <a:ext cx="3520440" cy="1965960"/>
          </a:xfrm>
          <a:prstGeom prst="roundRect">
            <a:avLst>
              <a:gd name="adj" fmla="val 3721"/>
            </a:avLst>
          </a:prstGeom>
          <a:solidFill>
            <a:srgbClr val="13294B"/>
          </a:solidFill>
          <a:ln/>
        </p:spPr>
      </p:sp>
      <p:sp>
        <p:nvSpPr>
          <p:cNvPr id="24" name="Shape 22"/>
          <p:cNvSpPr/>
          <p:nvPr/>
        </p:nvSpPr>
        <p:spPr>
          <a:xfrm>
            <a:off x="8302752" y="4187952"/>
            <a:ext cx="457200" cy="73152"/>
          </a:xfrm>
          <a:prstGeom prst="roundRect">
            <a:avLst/>
          </a:prstGeom>
          <a:solidFill>
            <a:srgbClr val="0D9488"/>
          </a:solidFill>
          <a:ln/>
        </p:spPr>
      </p:sp>
      <p:sp>
        <p:nvSpPr>
          <p:cNvPr id="25" name="Text 23"/>
          <p:cNvSpPr/>
          <p:nvPr/>
        </p:nvSpPr>
        <p:spPr>
          <a:xfrm>
            <a:off x="8302752" y="4389120"/>
            <a:ext cx="3008376" cy="457200"/>
          </a:xfrm>
          <a:prstGeom prst="rect">
            <a:avLst/>
          </a:prstGeom>
          <a:noFill/>
          <a:ln/>
        </p:spPr>
        <p:txBody>
          <a:bodyPr wrap="square" rtlCol="0" anchor="ctr"/>
          <a:lstStyle/>
          <a:p>
            <a:pPr indent="0" marL="0">
              <a:buNone/>
            </a:pPr>
            <a:r>
              <a:rPr lang="en-US" sz="1550" b="1" dirty="0">
                <a:solidFill>
                  <a:srgbClr val="FFFFFF"/>
                </a:solidFill>
                <a:latin typeface="Arial" pitchFamily="34" charset="0"/>
                <a:ea typeface="Arial" pitchFamily="34" charset="-122"/>
                <a:cs typeface="Arial" pitchFamily="34" charset="-120"/>
              </a:rPr>
              <a:t>Safer extensibility</a:t>
            </a:r>
            <a:endParaRPr lang="en-US" sz="1550" dirty="0"/>
          </a:p>
        </p:txBody>
      </p:sp>
      <p:sp>
        <p:nvSpPr>
          <p:cNvPr id="26" name="Text 24"/>
          <p:cNvSpPr/>
          <p:nvPr/>
        </p:nvSpPr>
        <p:spPr>
          <a:xfrm>
            <a:off x="8302752" y="4892040"/>
            <a:ext cx="3008376" cy="914400"/>
          </a:xfrm>
          <a:prstGeom prst="rect">
            <a:avLst/>
          </a:prstGeom>
          <a:noFill/>
          <a:ln/>
        </p:spPr>
        <p:txBody>
          <a:bodyPr wrap="square" rtlCol="0" anchor="ctr"/>
          <a:lstStyle/>
          <a:p>
            <a:pPr indent="0" marL="0">
              <a:lnSpc>
                <a:spcPts val="1500"/>
              </a:lnSpc>
              <a:buNone/>
            </a:pPr>
            <a:r>
              <a:rPr lang="en-US" sz="1150" dirty="0">
                <a:solidFill>
                  <a:srgbClr val="C7D2E3"/>
                </a:solidFill>
                <a:latin typeface="Arial" pitchFamily="34" charset="0"/>
                <a:ea typeface="Arial" pitchFamily="34" charset="-122"/>
                <a:cs typeface="Arial" pitchFamily="34" charset="-120"/>
              </a:rPr>
              <a:t>New capability added without destabilizing the base platform.</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lnSpc>
                <a:spcPts val="3000"/>
              </a:lnSpc>
              <a:buNone/>
            </a:pPr>
            <a:r>
              <a:rPr lang="en-US" sz="2600" b="1" dirty="0">
                <a:solidFill>
                  <a:srgbClr val="0B1F3A"/>
                </a:solidFill>
                <a:latin typeface="Arial" pitchFamily="34" charset="0"/>
                <a:ea typeface="Arial" pitchFamily="34" charset="-122"/>
                <a:cs typeface="Arial" pitchFamily="34" charset="-120"/>
              </a:rPr>
              <a:t>The architecture integrates safely with the existing ecosystem</a:t>
            </a:r>
            <a:endParaRPr lang="en-US" sz="2600" dirty="0"/>
          </a:p>
        </p:txBody>
      </p:sp>
      <p:sp>
        <p:nvSpPr>
          <p:cNvPr id="3" name="Text 1"/>
          <p:cNvSpPr/>
          <p:nvPr/>
        </p:nvSpPr>
        <p:spPr>
          <a:xfrm>
            <a:off x="548640" y="1143000"/>
            <a:ext cx="11064240" cy="411480"/>
          </a:xfrm>
          <a:prstGeom prst="rect">
            <a:avLst/>
          </a:prstGeom>
          <a:noFill/>
          <a:ln/>
        </p:spPr>
        <p:txBody>
          <a:bodyPr wrap="square" rtlCol="0" anchor="ctr"/>
          <a:lstStyle/>
          <a:p>
            <a:pPr indent="0" marL="0">
              <a:buNone/>
            </a:pPr>
            <a:r>
              <a:rPr lang="en-US" sz="1300" dirty="0">
                <a:solidFill>
                  <a:srgbClr val="334155"/>
                </a:solidFill>
                <a:latin typeface="Arial" pitchFamily="34" charset="0"/>
                <a:ea typeface="Arial" pitchFamily="34" charset="-122"/>
                <a:cs typeface="Arial" pitchFamily="34" charset="-120"/>
              </a:rPr>
              <a:t>Additive by design — the public path stays operational while local coordination is enabled alongside it.</a:t>
            </a:r>
            <a:endParaRPr lang="en-US" sz="1300" dirty="0"/>
          </a:p>
        </p:txBody>
      </p:sp>
      <p:sp>
        <p:nvSpPr>
          <p:cNvPr id="4" name="Shape 2"/>
          <p:cNvSpPr/>
          <p:nvPr/>
        </p:nvSpPr>
        <p:spPr>
          <a:xfrm>
            <a:off x="548640" y="2011680"/>
            <a:ext cx="2468880" cy="731520"/>
          </a:xfrm>
          <a:prstGeom prst="roundRect">
            <a:avLst>
              <a:gd name="adj" fmla="val 8750"/>
            </a:avLst>
          </a:prstGeom>
          <a:solidFill>
            <a:srgbClr val="2563EB"/>
          </a:solidFill>
          <a:ln/>
        </p:spPr>
      </p:sp>
      <p:sp>
        <p:nvSpPr>
          <p:cNvPr id="5" name="Text 3"/>
          <p:cNvSpPr/>
          <p:nvPr/>
        </p:nvSpPr>
        <p:spPr>
          <a:xfrm>
            <a:off x="548640" y="2011680"/>
            <a:ext cx="2468880" cy="731520"/>
          </a:xfrm>
          <a:prstGeom prst="rect">
            <a:avLst/>
          </a:prstGeom>
          <a:noFill/>
          <a:ln/>
        </p:spPr>
        <p:txBody>
          <a:bodyPr wrap="square" rtlCol="0" anchor="ctr"/>
          <a:lstStyle/>
          <a:p>
            <a:pPr algn="ctr" indent="0" marL="0">
              <a:lnSpc>
                <a:spcPts val="1300"/>
              </a:lnSpc>
              <a:buNone/>
            </a:pPr>
            <a:r>
              <a:rPr lang="en-US" sz="1200" b="1" dirty="0">
                <a:solidFill>
                  <a:srgbClr val="FFFFFF"/>
                </a:solidFill>
                <a:latin typeface="Arial" pitchFamily="34" charset="0"/>
                <a:ea typeface="Arial" pitchFamily="34" charset="-122"/>
                <a:cs typeface="Arial" pitchFamily="34" charset="-120"/>
              </a:rPr>
              <a:t>Cloud / Control</a:t>
            </a:r>
            <a:endParaRPr lang="en-US" sz="1200" dirty="0"/>
          </a:p>
          <a:p>
            <a:pPr algn="ctr" indent="0" marL="0">
              <a:lnSpc>
                <a:spcPts val="1300"/>
              </a:lnSpc>
              <a:buNone/>
            </a:pPr>
            <a:r>
              <a:rPr lang="en-US" sz="1200" b="1" dirty="0">
                <a:solidFill>
                  <a:srgbClr val="FFFFFF"/>
                </a:solidFill>
                <a:latin typeface="Arial" pitchFamily="34" charset="0"/>
                <a:ea typeface="Arial" pitchFamily="34" charset="-122"/>
                <a:cs typeface="Arial" pitchFamily="34" charset="-120"/>
              </a:rPr>
              <a:t>Plane (public)</a:t>
            </a:r>
            <a:endParaRPr lang="en-US" sz="1200" dirty="0"/>
          </a:p>
        </p:txBody>
      </p:sp>
      <p:sp>
        <p:nvSpPr>
          <p:cNvPr id="6" name="Shape 4"/>
          <p:cNvSpPr/>
          <p:nvPr/>
        </p:nvSpPr>
        <p:spPr>
          <a:xfrm>
            <a:off x="548640" y="3108960"/>
            <a:ext cx="2468880" cy="731520"/>
          </a:xfrm>
          <a:prstGeom prst="roundRect">
            <a:avLst>
              <a:gd name="adj" fmla="val 8750"/>
            </a:avLst>
          </a:prstGeom>
          <a:solidFill>
            <a:srgbClr val="0D9488"/>
          </a:solidFill>
          <a:ln/>
        </p:spPr>
      </p:sp>
      <p:sp>
        <p:nvSpPr>
          <p:cNvPr id="7" name="Text 5"/>
          <p:cNvSpPr/>
          <p:nvPr/>
        </p:nvSpPr>
        <p:spPr>
          <a:xfrm>
            <a:off x="548640" y="3108960"/>
            <a:ext cx="2468880" cy="731520"/>
          </a:xfrm>
          <a:prstGeom prst="rect">
            <a:avLst/>
          </a:prstGeom>
          <a:noFill/>
          <a:ln/>
        </p:spPr>
        <p:txBody>
          <a:bodyPr wrap="square" rtlCol="0" anchor="ctr"/>
          <a:lstStyle/>
          <a:p>
            <a:pPr algn="ctr" indent="0" marL="0">
              <a:lnSpc>
                <a:spcPts val="1300"/>
              </a:lnSpc>
              <a:buNone/>
            </a:pPr>
            <a:r>
              <a:rPr lang="en-US" sz="1200" b="1" dirty="0">
                <a:solidFill>
                  <a:srgbClr val="FFFFFF"/>
                </a:solidFill>
                <a:latin typeface="Arial" pitchFamily="34" charset="0"/>
                <a:ea typeface="Arial" pitchFamily="34" charset="-122"/>
                <a:cs typeface="Arial" pitchFamily="34" charset="-120"/>
              </a:rPr>
              <a:t>Local Orchestrator /</a:t>
            </a:r>
            <a:endParaRPr lang="en-US" sz="1200" dirty="0"/>
          </a:p>
          <a:p>
            <a:pPr algn="ctr" indent="0" marL="0">
              <a:lnSpc>
                <a:spcPts val="1300"/>
              </a:lnSpc>
              <a:buNone/>
            </a:pPr>
            <a:r>
              <a:rPr lang="en-US" sz="1200" b="1" dirty="0">
                <a:solidFill>
                  <a:srgbClr val="FFFFFF"/>
                </a:solidFill>
                <a:latin typeface="Arial" pitchFamily="34" charset="0"/>
                <a:ea typeface="Arial" pitchFamily="34" charset="-122"/>
                <a:cs typeface="Arial" pitchFamily="34" charset="-120"/>
              </a:rPr>
              <a:t>Dispatch Core</a:t>
            </a:r>
            <a:endParaRPr lang="en-US" sz="1200" dirty="0"/>
          </a:p>
        </p:txBody>
      </p:sp>
      <p:sp>
        <p:nvSpPr>
          <p:cNvPr id="8" name="Shape 6"/>
          <p:cNvSpPr/>
          <p:nvPr/>
        </p:nvSpPr>
        <p:spPr>
          <a:xfrm>
            <a:off x="3017520" y="2377440"/>
            <a:ext cx="1371600" cy="548640"/>
          </a:xfrm>
          <a:prstGeom prst="line">
            <a:avLst/>
          </a:prstGeom>
          <a:noFill/>
          <a:ln w="19050">
            <a:solidFill>
              <a:srgbClr val="94A3B8"/>
            </a:solidFill>
            <a:prstDash val="solid"/>
          </a:ln>
        </p:spPr>
      </p:sp>
      <p:sp>
        <p:nvSpPr>
          <p:cNvPr id="9" name="Shape 7"/>
          <p:cNvSpPr/>
          <p:nvPr/>
        </p:nvSpPr>
        <p:spPr>
          <a:xfrm>
            <a:off x="3017520" y="3474720"/>
            <a:ext cx="1371600" cy="-548640"/>
          </a:xfrm>
          <a:prstGeom prst="line">
            <a:avLst/>
          </a:prstGeom>
          <a:noFill/>
          <a:ln w="19050">
            <a:solidFill>
              <a:srgbClr val="94A3B8"/>
            </a:solidFill>
            <a:prstDash val="solid"/>
          </a:ln>
        </p:spPr>
      </p:sp>
      <p:sp>
        <p:nvSpPr>
          <p:cNvPr id="10" name="Shape 8"/>
          <p:cNvSpPr/>
          <p:nvPr/>
        </p:nvSpPr>
        <p:spPr>
          <a:xfrm>
            <a:off x="4480560" y="2468880"/>
            <a:ext cx="2743200" cy="1280160"/>
          </a:xfrm>
          <a:prstGeom prst="roundRect">
            <a:avLst>
              <a:gd name="adj" fmla="val 6429"/>
            </a:avLst>
          </a:prstGeom>
          <a:solidFill>
            <a:srgbClr val="0B1F3A"/>
          </a:solidFill>
          <a:ln/>
          <a:effectLst>
            <a:outerShdw sx="100000" sy="100000" kx="0" ky="0" algn="bl" rotWithShape="0" blurRad="127000" dist="38100" dir="5400000">
              <a:srgbClr val="94A3B8">
                <a:alpha val="40000"/>
              </a:srgbClr>
            </a:outerShdw>
          </a:effectLst>
        </p:spPr>
      </p:sp>
      <p:sp>
        <p:nvSpPr>
          <p:cNvPr id="11" name="Text 9"/>
          <p:cNvSpPr/>
          <p:nvPr/>
        </p:nvSpPr>
        <p:spPr>
          <a:xfrm>
            <a:off x="4480560" y="2606040"/>
            <a:ext cx="274320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Runtime Manager</a:t>
            </a:r>
            <a:endParaRPr lang="en-US" sz="1500" dirty="0"/>
          </a:p>
        </p:txBody>
      </p:sp>
      <p:sp>
        <p:nvSpPr>
          <p:cNvPr id="12" name="Text 10"/>
          <p:cNvSpPr/>
          <p:nvPr/>
        </p:nvSpPr>
        <p:spPr>
          <a:xfrm>
            <a:off x="4480560" y="3063240"/>
            <a:ext cx="2743200" cy="548640"/>
          </a:xfrm>
          <a:prstGeom prst="rect">
            <a:avLst/>
          </a:prstGeom>
          <a:noFill/>
          <a:ln/>
        </p:spPr>
        <p:txBody>
          <a:bodyPr wrap="square" rtlCol="0" anchor="ctr"/>
          <a:lstStyle/>
          <a:p>
            <a:pPr algn="ctr" indent="0" marL="0">
              <a:buNone/>
            </a:pPr>
            <a:r>
              <a:rPr lang="en-US" sz="1050" dirty="0">
                <a:solidFill>
                  <a:srgbClr val="C7D2E3"/>
                </a:solidFill>
                <a:latin typeface="Arial" pitchFamily="34" charset="0"/>
                <a:ea typeface="Arial" pitchFamily="34" charset="-122"/>
                <a:cs typeface="Arial" pitchFamily="34" charset="-120"/>
              </a:rPr>
              <a:t>Validate  •  Resolve  •  Execute  •  Notify</a:t>
            </a:r>
            <a:endParaRPr lang="en-US" sz="1050" dirty="0"/>
          </a:p>
        </p:txBody>
      </p:sp>
      <p:sp>
        <p:nvSpPr>
          <p:cNvPr id="13" name="Shape 11"/>
          <p:cNvSpPr/>
          <p:nvPr/>
        </p:nvSpPr>
        <p:spPr>
          <a:xfrm>
            <a:off x="7223760" y="2743200"/>
            <a:ext cx="1005840" cy="-502920"/>
          </a:xfrm>
          <a:prstGeom prst="line">
            <a:avLst/>
          </a:prstGeom>
          <a:noFill/>
          <a:ln w="19050">
            <a:solidFill>
              <a:srgbClr val="94A3B8"/>
            </a:solidFill>
            <a:prstDash val="solid"/>
          </a:ln>
        </p:spPr>
      </p:sp>
      <p:sp>
        <p:nvSpPr>
          <p:cNvPr id="14" name="Shape 12"/>
          <p:cNvSpPr/>
          <p:nvPr/>
        </p:nvSpPr>
        <p:spPr>
          <a:xfrm>
            <a:off x="7223760" y="3520440"/>
            <a:ext cx="1005840" cy="502920"/>
          </a:xfrm>
          <a:prstGeom prst="line">
            <a:avLst/>
          </a:prstGeom>
          <a:noFill/>
          <a:ln w="19050">
            <a:solidFill>
              <a:srgbClr val="94A3B8"/>
            </a:solidFill>
            <a:prstDash val="solid"/>
          </a:ln>
        </p:spPr>
      </p:sp>
      <p:sp>
        <p:nvSpPr>
          <p:cNvPr id="15" name="Shape 13"/>
          <p:cNvSpPr/>
          <p:nvPr/>
        </p:nvSpPr>
        <p:spPr>
          <a:xfrm>
            <a:off x="8229600" y="2011680"/>
            <a:ext cx="3383280" cy="731520"/>
          </a:xfrm>
          <a:prstGeom prst="roundRect">
            <a:avLst>
              <a:gd name="adj" fmla="val 8750"/>
            </a:avLst>
          </a:prstGeom>
          <a:solidFill>
            <a:srgbClr val="F4F6F9"/>
          </a:solidFill>
          <a:ln w="12700">
            <a:solidFill>
              <a:srgbClr val="E2E8F0"/>
            </a:solidFill>
            <a:prstDash val="solid"/>
          </a:ln>
        </p:spPr>
      </p:sp>
      <p:sp>
        <p:nvSpPr>
          <p:cNvPr id="16" name="Text 14"/>
          <p:cNvSpPr/>
          <p:nvPr/>
        </p:nvSpPr>
        <p:spPr>
          <a:xfrm>
            <a:off x="8229600" y="2011680"/>
            <a:ext cx="3383280" cy="731520"/>
          </a:xfrm>
          <a:prstGeom prst="rect">
            <a:avLst/>
          </a:prstGeom>
          <a:noFill/>
          <a:ln/>
        </p:spPr>
        <p:txBody>
          <a:bodyPr wrap="square" rtlCol="0" anchor="ctr"/>
          <a:lstStyle/>
          <a:p>
            <a:pPr algn="ctr" indent="0" marL="0">
              <a:buNone/>
            </a:pPr>
            <a:r>
              <a:rPr lang="en-US" sz="1200" b="1" dirty="0">
                <a:solidFill>
                  <a:srgbClr val="0B1F3A"/>
                </a:solidFill>
                <a:latin typeface="Arial" pitchFamily="34" charset="0"/>
                <a:ea typeface="Arial" pitchFamily="34" charset="-122"/>
                <a:cs typeface="Arial" pitchFamily="34" charset="-120"/>
              </a:rPr>
              <a:t>Static Catalog + Dynamic Plugins</a:t>
            </a:r>
            <a:endParaRPr lang="en-US" sz="1200" dirty="0"/>
          </a:p>
        </p:txBody>
      </p:sp>
      <p:sp>
        <p:nvSpPr>
          <p:cNvPr id="17" name="Shape 15"/>
          <p:cNvSpPr/>
          <p:nvPr/>
        </p:nvSpPr>
        <p:spPr>
          <a:xfrm>
            <a:off x="8229600" y="3108960"/>
            <a:ext cx="3383280" cy="731520"/>
          </a:xfrm>
          <a:prstGeom prst="roundRect">
            <a:avLst>
              <a:gd name="adj" fmla="val 8750"/>
            </a:avLst>
          </a:prstGeom>
          <a:solidFill>
            <a:srgbClr val="F4F6F9"/>
          </a:solidFill>
          <a:ln w="12700">
            <a:solidFill>
              <a:srgbClr val="E2E8F0"/>
            </a:solidFill>
            <a:prstDash val="solid"/>
          </a:ln>
        </p:spPr>
      </p:sp>
      <p:sp>
        <p:nvSpPr>
          <p:cNvPr id="18" name="Text 16"/>
          <p:cNvSpPr/>
          <p:nvPr/>
        </p:nvSpPr>
        <p:spPr>
          <a:xfrm>
            <a:off x="8229600" y="3108960"/>
            <a:ext cx="3383280" cy="731520"/>
          </a:xfrm>
          <a:prstGeom prst="rect">
            <a:avLst/>
          </a:prstGeom>
          <a:noFill/>
          <a:ln/>
        </p:spPr>
        <p:txBody>
          <a:bodyPr wrap="square" rtlCol="0" anchor="ctr"/>
          <a:lstStyle/>
          <a:p>
            <a:pPr algn="ctr" indent="0" marL="0">
              <a:buNone/>
            </a:pPr>
            <a:r>
              <a:rPr lang="en-US" sz="1200" b="1" dirty="0">
                <a:solidFill>
                  <a:srgbClr val="0B1F3A"/>
                </a:solidFill>
                <a:latin typeface="Arial" pitchFamily="34" charset="0"/>
                <a:ea typeface="Arial" pitchFamily="34" charset="-122"/>
                <a:cs typeface="Arial" pitchFamily="34" charset="-120"/>
              </a:rPr>
              <a:t>Describe / Health / Push / Changed</a:t>
            </a:r>
            <a:endParaRPr lang="en-US" sz="1200" dirty="0"/>
          </a:p>
        </p:txBody>
      </p:sp>
      <p:sp>
        <p:nvSpPr>
          <p:cNvPr id="19" name="Shape 17"/>
          <p:cNvSpPr/>
          <p:nvPr/>
        </p:nvSpPr>
        <p:spPr>
          <a:xfrm>
            <a:off x="548640" y="4416552"/>
            <a:ext cx="91440" cy="91440"/>
          </a:xfrm>
          <a:prstGeom prst="ellipse">
            <a:avLst/>
          </a:prstGeom>
          <a:solidFill>
            <a:srgbClr val="0D9488"/>
          </a:solidFill>
          <a:ln/>
        </p:spPr>
      </p:sp>
      <p:sp>
        <p:nvSpPr>
          <p:cNvPr id="20" name="Text 18"/>
          <p:cNvSpPr/>
          <p:nvPr/>
        </p:nvSpPr>
        <p:spPr>
          <a:xfrm>
            <a:off x="777240" y="4270248"/>
            <a:ext cx="10789920" cy="365760"/>
          </a:xfrm>
          <a:prstGeom prst="rect">
            <a:avLst/>
          </a:prstGeom>
          <a:noFill/>
          <a:ln/>
        </p:spPr>
        <p:txBody>
          <a:bodyPr wrap="square" rtlCol="0" anchor="ctr"/>
          <a:lstStyle/>
          <a:p>
            <a:pPr indent="0" marL="0">
              <a:buNone/>
            </a:pPr>
            <a:r>
              <a:rPr lang="en-US" sz="1250" dirty="0">
                <a:solidFill>
                  <a:srgbClr val="334155"/>
                </a:solidFill>
                <a:latin typeface="Arial" pitchFamily="34" charset="0"/>
                <a:ea typeface="Arial" pitchFamily="34" charset="-122"/>
                <a:cs typeface="Arial" pitchFamily="34" charset="-120"/>
              </a:rPr>
              <a:t>Preserves compatibility — additive deployment, graceful fallback when a component is unavailable.</a:t>
            </a:r>
            <a:endParaRPr lang="en-US" sz="1250" dirty="0"/>
          </a:p>
        </p:txBody>
      </p:sp>
      <p:sp>
        <p:nvSpPr>
          <p:cNvPr id="21" name="Shape 19"/>
          <p:cNvSpPr/>
          <p:nvPr/>
        </p:nvSpPr>
        <p:spPr>
          <a:xfrm>
            <a:off x="548640" y="4873752"/>
            <a:ext cx="91440" cy="91440"/>
          </a:xfrm>
          <a:prstGeom prst="ellipse">
            <a:avLst/>
          </a:prstGeom>
          <a:solidFill>
            <a:srgbClr val="0D9488"/>
          </a:solidFill>
          <a:ln/>
        </p:spPr>
      </p:sp>
      <p:sp>
        <p:nvSpPr>
          <p:cNvPr id="22" name="Text 20"/>
          <p:cNvSpPr/>
          <p:nvPr/>
        </p:nvSpPr>
        <p:spPr>
          <a:xfrm>
            <a:off x="777240" y="4727448"/>
            <a:ext cx="10789920" cy="365760"/>
          </a:xfrm>
          <a:prstGeom prst="rect">
            <a:avLst/>
          </a:prstGeom>
          <a:noFill/>
          <a:ln/>
        </p:spPr>
        <p:txBody>
          <a:bodyPr wrap="square" rtlCol="0" anchor="ctr"/>
          <a:lstStyle/>
          <a:p>
            <a:pPr indent="0" marL="0">
              <a:buNone/>
            </a:pPr>
            <a:r>
              <a:rPr lang="en-US" sz="1250" dirty="0">
                <a:solidFill>
                  <a:srgbClr val="334155"/>
                </a:solidFill>
                <a:latin typeface="Arial" pitchFamily="34" charset="0"/>
                <a:ea typeface="Arial" pitchFamily="34" charset="-122"/>
                <a:cs typeface="Arial" pitchFamily="34" charset="-120"/>
              </a:rPr>
              <a:t>Separates operational intelligence from execution, reducing design risk.</a:t>
            </a:r>
            <a:endParaRPr lang="en-US" sz="1250" dirty="0"/>
          </a:p>
        </p:txBody>
      </p:sp>
      <p:sp>
        <p:nvSpPr>
          <p:cNvPr id="23" name="Shape 21"/>
          <p:cNvSpPr/>
          <p:nvPr/>
        </p:nvSpPr>
        <p:spPr>
          <a:xfrm>
            <a:off x="548640" y="5330952"/>
            <a:ext cx="91440" cy="91440"/>
          </a:xfrm>
          <a:prstGeom prst="ellipse">
            <a:avLst/>
          </a:prstGeom>
          <a:solidFill>
            <a:srgbClr val="0D9488"/>
          </a:solidFill>
          <a:ln/>
        </p:spPr>
      </p:sp>
      <p:sp>
        <p:nvSpPr>
          <p:cNvPr id="24" name="Text 22"/>
          <p:cNvSpPr/>
          <p:nvPr/>
        </p:nvSpPr>
        <p:spPr>
          <a:xfrm>
            <a:off x="777240" y="5184648"/>
            <a:ext cx="10789920" cy="365760"/>
          </a:xfrm>
          <a:prstGeom prst="rect">
            <a:avLst/>
          </a:prstGeom>
          <a:noFill/>
          <a:ln/>
        </p:spPr>
        <p:txBody>
          <a:bodyPr wrap="square" rtlCol="0" anchor="ctr"/>
          <a:lstStyle/>
          <a:p>
            <a:pPr indent="0" marL="0">
              <a:buNone/>
            </a:pPr>
            <a:r>
              <a:rPr lang="en-US" sz="1250" dirty="0">
                <a:solidFill>
                  <a:srgbClr val="334155"/>
                </a:solidFill>
                <a:latin typeface="Arial" pitchFamily="34" charset="0"/>
                <a:ea typeface="Arial" pitchFamily="34" charset="-122"/>
                <a:cs typeface="Arial" pitchFamily="34" charset="-120"/>
              </a:rPr>
              <a:t>Supports extension through plugins without destabilizing the base service.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lnSpc>
                <a:spcPts val="3000"/>
              </a:lnSpc>
              <a:buNone/>
            </a:pPr>
            <a:r>
              <a:rPr lang="en-US" sz="2600" b="1" dirty="0">
                <a:solidFill>
                  <a:srgbClr val="0B1F3A"/>
                </a:solidFill>
                <a:latin typeface="Arial" pitchFamily="34" charset="0"/>
                <a:ea typeface="Arial" pitchFamily="34" charset="-122"/>
                <a:cs typeface="Arial" pitchFamily="34" charset="-120"/>
              </a:rPr>
              <a:t>Risk is managed through resilience, validation, and security-by-default</a:t>
            </a:r>
            <a:endParaRPr lang="en-US" sz="2600" dirty="0"/>
          </a:p>
        </p:txBody>
      </p:sp>
      <p:sp>
        <p:nvSpPr>
          <p:cNvPr id="3" name="Shape 1"/>
          <p:cNvSpPr/>
          <p:nvPr/>
        </p:nvSpPr>
        <p:spPr>
          <a:xfrm>
            <a:off x="548640" y="1463040"/>
            <a:ext cx="5394960" cy="4572000"/>
          </a:xfrm>
          <a:prstGeom prst="roundRect">
            <a:avLst>
              <a:gd name="adj" fmla="val 1600"/>
            </a:avLst>
          </a:prstGeom>
          <a:solidFill>
            <a:srgbClr val="F4F6F9"/>
          </a:solidFill>
          <a:ln/>
        </p:spPr>
      </p:sp>
      <p:sp>
        <p:nvSpPr>
          <p:cNvPr id="4" name="Text 2"/>
          <p:cNvSpPr/>
          <p:nvPr/>
        </p:nvSpPr>
        <p:spPr>
          <a:xfrm>
            <a:off x="868680" y="1737360"/>
            <a:ext cx="4754880" cy="365760"/>
          </a:xfrm>
          <a:prstGeom prst="rect">
            <a:avLst/>
          </a:prstGeom>
          <a:noFill/>
          <a:ln/>
        </p:spPr>
        <p:txBody>
          <a:bodyPr wrap="square" rtlCol="0" anchor="ctr"/>
          <a:lstStyle/>
          <a:p>
            <a:pPr indent="0" marL="0">
              <a:buNone/>
            </a:pPr>
            <a:r>
              <a:rPr lang="en-US" sz="1300" b="1" spc="150" kern="0" dirty="0">
                <a:solidFill>
                  <a:srgbClr val="64748B"/>
                </a:solidFill>
                <a:latin typeface="Arial" pitchFamily="34" charset="0"/>
                <a:ea typeface="Arial" pitchFamily="34" charset="-122"/>
                <a:cs typeface="Arial" pitchFamily="34" charset="-120"/>
              </a:rPr>
              <a:t>DEPENDENCIES</a:t>
            </a:r>
            <a:endParaRPr lang="en-US" sz="1300" dirty="0"/>
          </a:p>
        </p:txBody>
      </p:sp>
      <p:sp>
        <p:nvSpPr>
          <p:cNvPr id="5" name="Shape 3"/>
          <p:cNvSpPr/>
          <p:nvPr/>
        </p:nvSpPr>
        <p:spPr>
          <a:xfrm>
            <a:off x="868680" y="2286000"/>
            <a:ext cx="146304" cy="146304"/>
          </a:xfrm>
          <a:prstGeom prst="roundRect">
            <a:avLst>
              <a:gd name="adj" fmla="val 18750"/>
            </a:avLst>
          </a:prstGeom>
          <a:solidFill>
            <a:srgbClr val="D97706"/>
          </a:solidFill>
          <a:ln/>
        </p:spPr>
      </p:sp>
      <p:sp>
        <p:nvSpPr>
          <p:cNvPr id="6" name="Text 4"/>
          <p:cNvSpPr/>
          <p:nvPr/>
        </p:nvSpPr>
        <p:spPr>
          <a:xfrm>
            <a:off x="1143000" y="2130552"/>
            <a:ext cx="4572000" cy="502920"/>
          </a:xfrm>
          <a:prstGeom prst="rect">
            <a:avLst/>
          </a:prstGeom>
          <a:noFill/>
          <a:ln/>
        </p:spPr>
        <p:txBody>
          <a:bodyPr wrap="square" rtlCol="0" anchor="ctr"/>
          <a:lstStyle/>
          <a:p>
            <a:pPr indent="0" marL="0">
              <a:buNone/>
            </a:pPr>
            <a:r>
              <a:rPr lang="en-US" sz="1300" dirty="0">
                <a:solidFill>
                  <a:srgbClr val="334155"/>
                </a:solidFill>
                <a:latin typeface="Arial" pitchFamily="34" charset="0"/>
                <a:ea typeface="Arial" pitchFamily="34" charset="-122"/>
                <a:cs typeface="Arial" pitchFamily="34" charset="-120"/>
              </a:rPr>
              <a:t>Messaging continuity between cloud and runtime</a:t>
            </a:r>
            <a:endParaRPr lang="en-US" sz="1300" dirty="0"/>
          </a:p>
        </p:txBody>
      </p:sp>
      <p:sp>
        <p:nvSpPr>
          <p:cNvPr id="7" name="Shape 5"/>
          <p:cNvSpPr/>
          <p:nvPr/>
        </p:nvSpPr>
        <p:spPr>
          <a:xfrm>
            <a:off x="868680" y="2926080"/>
            <a:ext cx="146304" cy="146304"/>
          </a:xfrm>
          <a:prstGeom prst="roundRect">
            <a:avLst>
              <a:gd name="adj" fmla="val 18750"/>
            </a:avLst>
          </a:prstGeom>
          <a:solidFill>
            <a:srgbClr val="D97706"/>
          </a:solidFill>
          <a:ln/>
        </p:spPr>
      </p:sp>
      <p:sp>
        <p:nvSpPr>
          <p:cNvPr id="8" name="Text 6"/>
          <p:cNvSpPr/>
          <p:nvPr/>
        </p:nvSpPr>
        <p:spPr>
          <a:xfrm>
            <a:off x="1143000" y="2770632"/>
            <a:ext cx="4572000" cy="502920"/>
          </a:xfrm>
          <a:prstGeom prst="rect">
            <a:avLst/>
          </a:prstGeom>
          <a:noFill/>
          <a:ln/>
        </p:spPr>
        <p:txBody>
          <a:bodyPr wrap="square" rtlCol="0" anchor="ctr"/>
          <a:lstStyle/>
          <a:p>
            <a:pPr indent="0" marL="0">
              <a:buNone/>
            </a:pPr>
            <a:r>
              <a:rPr lang="en-US" sz="1300" dirty="0">
                <a:solidFill>
                  <a:srgbClr val="334155"/>
                </a:solidFill>
                <a:latin typeface="Arial" pitchFamily="34" charset="0"/>
                <a:ea typeface="Arial" pitchFamily="34" charset="-122"/>
                <a:cs typeface="Arial" pitchFamily="34" charset="-120"/>
              </a:rPr>
              <a:t>Catalog accuracy and versioning integrity</a:t>
            </a:r>
            <a:endParaRPr lang="en-US" sz="1300" dirty="0"/>
          </a:p>
        </p:txBody>
      </p:sp>
      <p:sp>
        <p:nvSpPr>
          <p:cNvPr id="9" name="Shape 7"/>
          <p:cNvSpPr/>
          <p:nvPr/>
        </p:nvSpPr>
        <p:spPr>
          <a:xfrm>
            <a:off x="868680" y="3566160"/>
            <a:ext cx="146304" cy="146304"/>
          </a:xfrm>
          <a:prstGeom prst="roundRect">
            <a:avLst>
              <a:gd name="adj" fmla="val 18750"/>
            </a:avLst>
          </a:prstGeom>
          <a:solidFill>
            <a:srgbClr val="D97706"/>
          </a:solidFill>
          <a:ln/>
        </p:spPr>
      </p:sp>
      <p:sp>
        <p:nvSpPr>
          <p:cNvPr id="10" name="Text 8"/>
          <p:cNvSpPr/>
          <p:nvPr/>
        </p:nvSpPr>
        <p:spPr>
          <a:xfrm>
            <a:off x="1143000" y="3410712"/>
            <a:ext cx="4572000" cy="502920"/>
          </a:xfrm>
          <a:prstGeom prst="rect">
            <a:avLst/>
          </a:prstGeom>
          <a:noFill/>
          <a:ln/>
        </p:spPr>
        <p:txBody>
          <a:bodyPr wrap="square" rtlCol="0" anchor="ctr"/>
          <a:lstStyle/>
          <a:p>
            <a:pPr indent="0" marL="0">
              <a:buNone/>
            </a:pPr>
            <a:r>
              <a:rPr lang="en-US" sz="1300" dirty="0">
                <a:solidFill>
                  <a:srgbClr val="334155"/>
                </a:solidFill>
                <a:latin typeface="Arial" pitchFamily="34" charset="0"/>
                <a:ea typeface="Arial" pitchFamily="34" charset="-122"/>
                <a:cs typeface="Arial" pitchFamily="34" charset="-120"/>
              </a:rPr>
              <a:t>Plugin validation and contract compatibility</a:t>
            </a:r>
            <a:endParaRPr lang="en-US" sz="1300" dirty="0"/>
          </a:p>
        </p:txBody>
      </p:sp>
      <p:sp>
        <p:nvSpPr>
          <p:cNvPr id="11" name="Shape 9"/>
          <p:cNvSpPr/>
          <p:nvPr/>
        </p:nvSpPr>
        <p:spPr>
          <a:xfrm>
            <a:off x="868680" y="4206240"/>
            <a:ext cx="146304" cy="146304"/>
          </a:xfrm>
          <a:prstGeom prst="roundRect">
            <a:avLst>
              <a:gd name="adj" fmla="val 18750"/>
            </a:avLst>
          </a:prstGeom>
          <a:solidFill>
            <a:srgbClr val="D97706"/>
          </a:solidFill>
          <a:ln/>
        </p:spPr>
      </p:sp>
      <p:sp>
        <p:nvSpPr>
          <p:cNvPr id="12" name="Text 10"/>
          <p:cNvSpPr/>
          <p:nvPr/>
        </p:nvSpPr>
        <p:spPr>
          <a:xfrm>
            <a:off x="1143000" y="4050792"/>
            <a:ext cx="4572000" cy="502920"/>
          </a:xfrm>
          <a:prstGeom prst="rect">
            <a:avLst/>
          </a:prstGeom>
          <a:noFill/>
          <a:ln/>
        </p:spPr>
        <p:txBody>
          <a:bodyPr wrap="square" rtlCol="0" anchor="ctr"/>
          <a:lstStyle/>
          <a:p>
            <a:pPr indent="0" marL="0">
              <a:buNone/>
            </a:pPr>
            <a:r>
              <a:rPr lang="en-US" sz="1300" dirty="0">
                <a:solidFill>
                  <a:srgbClr val="334155"/>
                </a:solidFill>
                <a:latin typeface="Arial" pitchFamily="34" charset="0"/>
                <a:ea typeface="Arial" pitchFamily="34" charset="-122"/>
                <a:cs typeface="Arial" pitchFamily="34" charset="-120"/>
              </a:rPr>
              <a:t>Readiness of downstream / dependent services</a:t>
            </a:r>
            <a:endParaRPr lang="en-US" sz="1300" dirty="0"/>
          </a:p>
        </p:txBody>
      </p:sp>
      <p:sp>
        <p:nvSpPr>
          <p:cNvPr id="13" name="Shape 11"/>
          <p:cNvSpPr/>
          <p:nvPr/>
        </p:nvSpPr>
        <p:spPr>
          <a:xfrm>
            <a:off x="6217920" y="1463040"/>
            <a:ext cx="5394960" cy="4572000"/>
          </a:xfrm>
          <a:prstGeom prst="roundRect">
            <a:avLst>
              <a:gd name="adj" fmla="val 1600"/>
            </a:avLst>
          </a:prstGeom>
          <a:solidFill>
            <a:srgbClr val="0B1F3A"/>
          </a:solidFill>
          <a:ln/>
        </p:spPr>
      </p:sp>
      <p:sp>
        <p:nvSpPr>
          <p:cNvPr id="14" name="Text 12"/>
          <p:cNvSpPr/>
          <p:nvPr/>
        </p:nvSpPr>
        <p:spPr>
          <a:xfrm>
            <a:off x="6537960" y="1737360"/>
            <a:ext cx="4754880" cy="365760"/>
          </a:xfrm>
          <a:prstGeom prst="rect">
            <a:avLst/>
          </a:prstGeom>
          <a:noFill/>
          <a:ln/>
        </p:spPr>
        <p:txBody>
          <a:bodyPr wrap="square" rtlCol="0" anchor="ctr"/>
          <a:lstStyle/>
          <a:p>
            <a:pPr indent="0" marL="0">
              <a:buNone/>
            </a:pPr>
            <a:r>
              <a:rPr lang="en-US" sz="1300" b="1" spc="150" kern="0" dirty="0">
                <a:solidFill>
                  <a:srgbClr val="0D9488"/>
                </a:solidFill>
                <a:latin typeface="Arial" pitchFamily="34" charset="0"/>
                <a:ea typeface="Arial" pitchFamily="34" charset="-122"/>
                <a:cs typeface="Arial" pitchFamily="34" charset="-120"/>
              </a:rPr>
              <a:t>SAFEGUARDS</a:t>
            </a:r>
            <a:endParaRPr lang="en-US" sz="1300" dirty="0"/>
          </a:p>
        </p:txBody>
      </p:sp>
      <p:sp>
        <p:nvSpPr>
          <p:cNvPr id="15" name="Shape 13"/>
          <p:cNvSpPr/>
          <p:nvPr/>
        </p:nvSpPr>
        <p:spPr>
          <a:xfrm>
            <a:off x="6537960" y="2286000"/>
            <a:ext cx="146304" cy="146304"/>
          </a:xfrm>
          <a:prstGeom prst="roundRect">
            <a:avLst>
              <a:gd name="adj" fmla="val 18750"/>
            </a:avLst>
          </a:prstGeom>
          <a:solidFill>
            <a:srgbClr val="0D9488"/>
          </a:solidFill>
          <a:ln/>
        </p:spPr>
      </p:sp>
      <p:sp>
        <p:nvSpPr>
          <p:cNvPr id="16" name="Text 14"/>
          <p:cNvSpPr/>
          <p:nvPr/>
        </p:nvSpPr>
        <p:spPr>
          <a:xfrm>
            <a:off x="6812280" y="2130552"/>
            <a:ext cx="4572000" cy="50292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Validation and health checks before activation</a:t>
            </a:r>
            <a:endParaRPr lang="en-US" sz="1300" dirty="0"/>
          </a:p>
        </p:txBody>
      </p:sp>
      <p:sp>
        <p:nvSpPr>
          <p:cNvPr id="17" name="Shape 15"/>
          <p:cNvSpPr/>
          <p:nvPr/>
        </p:nvSpPr>
        <p:spPr>
          <a:xfrm>
            <a:off x="6537960" y="2926080"/>
            <a:ext cx="146304" cy="146304"/>
          </a:xfrm>
          <a:prstGeom prst="roundRect">
            <a:avLst>
              <a:gd name="adj" fmla="val 18750"/>
            </a:avLst>
          </a:prstGeom>
          <a:solidFill>
            <a:srgbClr val="0D9488"/>
          </a:solidFill>
          <a:ln/>
        </p:spPr>
      </p:sp>
      <p:sp>
        <p:nvSpPr>
          <p:cNvPr id="18" name="Text 16"/>
          <p:cNvSpPr/>
          <p:nvPr/>
        </p:nvSpPr>
        <p:spPr>
          <a:xfrm>
            <a:off x="6812280" y="2770632"/>
            <a:ext cx="4572000" cy="50292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Resilient startup and graceful fallback behavior</a:t>
            </a:r>
            <a:endParaRPr lang="en-US" sz="1300" dirty="0"/>
          </a:p>
        </p:txBody>
      </p:sp>
      <p:sp>
        <p:nvSpPr>
          <p:cNvPr id="19" name="Shape 17"/>
          <p:cNvSpPr/>
          <p:nvPr/>
        </p:nvSpPr>
        <p:spPr>
          <a:xfrm>
            <a:off x="6537960" y="3566160"/>
            <a:ext cx="146304" cy="146304"/>
          </a:xfrm>
          <a:prstGeom prst="roundRect">
            <a:avLst>
              <a:gd name="adj" fmla="val 18750"/>
            </a:avLst>
          </a:prstGeom>
          <a:solidFill>
            <a:srgbClr val="0D9488"/>
          </a:solidFill>
          <a:ln/>
        </p:spPr>
      </p:sp>
      <p:sp>
        <p:nvSpPr>
          <p:cNvPr id="20" name="Text 18"/>
          <p:cNvSpPr/>
          <p:nvPr/>
        </p:nvSpPr>
        <p:spPr>
          <a:xfrm>
            <a:off x="6812280" y="3410712"/>
            <a:ext cx="4572000" cy="50292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Authenticated, controlled communication paths</a:t>
            </a:r>
            <a:endParaRPr lang="en-US" sz="1300" dirty="0"/>
          </a:p>
        </p:txBody>
      </p:sp>
      <p:sp>
        <p:nvSpPr>
          <p:cNvPr id="21" name="Shape 19"/>
          <p:cNvSpPr/>
          <p:nvPr/>
        </p:nvSpPr>
        <p:spPr>
          <a:xfrm>
            <a:off x="6537960" y="4206240"/>
            <a:ext cx="146304" cy="146304"/>
          </a:xfrm>
          <a:prstGeom prst="roundRect">
            <a:avLst>
              <a:gd name="adj" fmla="val 18750"/>
            </a:avLst>
          </a:prstGeom>
          <a:solidFill>
            <a:srgbClr val="0D9488"/>
          </a:solidFill>
          <a:ln/>
        </p:spPr>
      </p:sp>
      <p:sp>
        <p:nvSpPr>
          <p:cNvPr id="22" name="Text 20"/>
          <p:cNvSpPr/>
          <p:nvPr/>
        </p:nvSpPr>
        <p:spPr>
          <a:xfrm>
            <a:off x="6812280" y="4050792"/>
            <a:ext cx="4572000" cy="50292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Public path stays stable while local coordination is additive</a:t>
            </a:r>
            <a:endParaRPr lang="en-US" sz="1300" dirty="0"/>
          </a:p>
        </p:txBody>
      </p:sp>
      <p:sp>
        <p:nvSpPr>
          <p:cNvPr id="23" name="Text 21"/>
          <p:cNvSpPr/>
          <p:nvPr/>
        </p:nvSpPr>
        <p:spPr>
          <a:xfrm>
            <a:off x="548640" y="6172200"/>
            <a:ext cx="11064240" cy="457200"/>
          </a:xfrm>
          <a:prstGeom prst="rect">
            <a:avLst/>
          </a:prstGeom>
          <a:noFill/>
          <a:ln/>
        </p:spPr>
        <p:txBody>
          <a:bodyPr wrap="square" rtlCol="0" anchor="ctr"/>
          <a:lstStyle/>
          <a:p>
            <a:pPr indent="0" marL="0">
              <a:buNone/>
            </a:pPr>
            <a:r>
              <a:rPr lang="en-US" sz="1200" i="1" dirty="0">
                <a:solidFill>
                  <a:srgbClr val="334155"/>
                </a:solidFill>
                <a:latin typeface="Arial" pitchFamily="34" charset="0"/>
                <a:ea typeface="Arial" pitchFamily="34" charset="-122"/>
                <a:cs typeface="Arial" pitchFamily="34" charset="-120"/>
              </a:rPr>
              <a:t>The system is designed to fail gracefully, log clearly, and preserve existing service continuity when a dependency is not yet ready.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lnSpc>
                <a:spcPts val="3000"/>
              </a:lnSpc>
              <a:buNone/>
            </a:pPr>
            <a:r>
              <a:rPr lang="en-US" sz="2600" b="1" dirty="0">
                <a:solidFill>
                  <a:srgbClr val="0B1F3A"/>
                </a:solidFill>
                <a:latin typeface="Arial" pitchFamily="34" charset="0"/>
                <a:ea typeface="Arial" pitchFamily="34" charset="-122"/>
                <a:cs typeface="Arial" pitchFamily="34" charset="-120"/>
              </a:rPr>
              <a:t>The next step is a staged deployment with visible business outcomes</a:t>
            </a:r>
            <a:endParaRPr lang="en-US" sz="2600" dirty="0"/>
          </a:p>
        </p:txBody>
      </p:sp>
      <p:sp>
        <p:nvSpPr>
          <p:cNvPr id="3" name="Shape 1"/>
          <p:cNvSpPr/>
          <p:nvPr/>
        </p:nvSpPr>
        <p:spPr>
          <a:xfrm>
            <a:off x="868680" y="2057400"/>
            <a:ext cx="10149840" cy="0"/>
          </a:xfrm>
          <a:prstGeom prst="line">
            <a:avLst/>
          </a:prstGeom>
          <a:noFill/>
          <a:ln w="25400">
            <a:solidFill>
              <a:srgbClr val="CBD5E1"/>
            </a:solidFill>
            <a:prstDash val="dash"/>
          </a:ln>
        </p:spPr>
      </p:sp>
      <p:sp>
        <p:nvSpPr>
          <p:cNvPr id="4" name="Shape 2"/>
          <p:cNvSpPr/>
          <p:nvPr/>
        </p:nvSpPr>
        <p:spPr>
          <a:xfrm>
            <a:off x="594360" y="1783080"/>
            <a:ext cx="548640" cy="548640"/>
          </a:xfrm>
          <a:prstGeom prst="ellipse">
            <a:avLst/>
          </a:prstGeom>
          <a:solidFill>
            <a:srgbClr val="0D9488"/>
          </a:solidFill>
          <a:ln/>
        </p:spPr>
      </p:sp>
      <p:sp>
        <p:nvSpPr>
          <p:cNvPr id="5" name="Text 3"/>
          <p:cNvSpPr/>
          <p:nvPr/>
        </p:nvSpPr>
        <p:spPr>
          <a:xfrm>
            <a:off x="594360" y="178308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Shape 4"/>
          <p:cNvSpPr/>
          <p:nvPr/>
        </p:nvSpPr>
        <p:spPr>
          <a:xfrm>
            <a:off x="548640" y="2606040"/>
            <a:ext cx="3383280" cy="1965960"/>
          </a:xfrm>
          <a:prstGeom prst="roundRect">
            <a:avLst>
              <a:gd name="adj" fmla="val 3721"/>
            </a:avLst>
          </a:prstGeom>
          <a:solidFill>
            <a:srgbClr val="F4F6F9"/>
          </a:solidFill>
          <a:ln/>
        </p:spPr>
      </p:sp>
      <p:sp>
        <p:nvSpPr>
          <p:cNvPr id="7" name="Text 5"/>
          <p:cNvSpPr/>
          <p:nvPr/>
        </p:nvSpPr>
        <p:spPr>
          <a:xfrm>
            <a:off x="777240" y="2743200"/>
            <a:ext cx="2926080" cy="274320"/>
          </a:xfrm>
          <a:prstGeom prst="rect">
            <a:avLst/>
          </a:prstGeom>
          <a:noFill/>
          <a:ln/>
        </p:spPr>
        <p:txBody>
          <a:bodyPr wrap="square" rtlCol="0" anchor="ctr"/>
          <a:lstStyle/>
          <a:p>
            <a:pPr indent="0" marL="0">
              <a:buNone/>
            </a:pPr>
            <a:r>
              <a:rPr lang="en-US" sz="1050" b="1" spc="150" kern="0" dirty="0">
                <a:solidFill>
                  <a:srgbClr val="0D9488"/>
                </a:solidFill>
                <a:latin typeface="Arial" pitchFamily="34" charset="0"/>
                <a:ea typeface="Arial" pitchFamily="34" charset="-122"/>
                <a:cs typeface="Arial" pitchFamily="34" charset="-120"/>
              </a:rPr>
              <a:t>PHASE 1</a:t>
            </a:r>
            <a:endParaRPr lang="en-US" sz="1050" dirty="0"/>
          </a:p>
        </p:txBody>
      </p:sp>
      <p:sp>
        <p:nvSpPr>
          <p:cNvPr id="8" name="Text 6"/>
          <p:cNvSpPr/>
          <p:nvPr/>
        </p:nvSpPr>
        <p:spPr>
          <a:xfrm>
            <a:off x="777240" y="3017520"/>
            <a:ext cx="2926080" cy="365760"/>
          </a:xfrm>
          <a:prstGeom prst="rect">
            <a:avLst/>
          </a:prstGeom>
          <a:noFill/>
          <a:ln/>
        </p:spPr>
        <p:txBody>
          <a:bodyPr wrap="square" rtlCol="0" anchor="ctr"/>
          <a:lstStyle/>
          <a:p>
            <a:pPr indent="0" marL="0">
              <a:buNone/>
            </a:pPr>
            <a:r>
              <a:rPr lang="en-US" sz="1700" b="1" dirty="0">
                <a:solidFill>
                  <a:srgbClr val="0B1F3A"/>
                </a:solidFill>
                <a:latin typeface="Arial" pitchFamily="34" charset="0"/>
                <a:ea typeface="Arial" pitchFamily="34" charset="-122"/>
                <a:cs typeface="Arial" pitchFamily="34" charset="-120"/>
              </a:rPr>
              <a:t>Pilot</a:t>
            </a:r>
            <a:endParaRPr lang="en-US" sz="1700" dirty="0"/>
          </a:p>
        </p:txBody>
      </p:sp>
      <p:sp>
        <p:nvSpPr>
          <p:cNvPr id="9" name="Text 7"/>
          <p:cNvSpPr/>
          <p:nvPr/>
        </p:nvSpPr>
        <p:spPr>
          <a:xfrm>
            <a:off x="777240" y="3429000"/>
            <a:ext cx="2926080" cy="1005840"/>
          </a:xfrm>
          <a:prstGeom prst="rect">
            <a:avLst/>
          </a:prstGeom>
          <a:noFill/>
          <a:ln/>
        </p:spPr>
        <p:txBody>
          <a:bodyPr wrap="square" rtlCol="0" anchor="ctr"/>
          <a:lstStyle/>
          <a:p>
            <a:pPr indent="0" marL="0">
              <a:lnSpc>
                <a:spcPts val="1550"/>
              </a:lnSpc>
              <a:buNone/>
            </a:pPr>
            <a:r>
              <a:rPr lang="en-US" sz="1200" dirty="0">
                <a:solidFill>
                  <a:srgbClr val="334155"/>
                </a:solidFill>
                <a:latin typeface="Arial" pitchFamily="34" charset="0"/>
                <a:ea typeface="Arial" pitchFamily="34" charset="-122"/>
                <a:cs typeface="Arial" pitchFamily="34" charset="-120"/>
              </a:rPr>
              <a:t>Activate core runtime control capabilities in a limited, monitored environment.</a:t>
            </a:r>
            <a:endParaRPr lang="en-US" sz="1200" dirty="0"/>
          </a:p>
        </p:txBody>
      </p:sp>
      <p:sp>
        <p:nvSpPr>
          <p:cNvPr id="10" name="Shape 8"/>
          <p:cNvSpPr/>
          <p:nvPr/>
        </p:nvSpPr>
        <p:spPr>
          <a:xfrm>
            <a:off x="4297680" y="1783080"/>
            <a:ext cx="548640" cy="548640"/>
          </a:xfrm>
          <a:prstGeom prst="ellipse">
            <a:avLst/>
          </a:prstGeom>
          <a:solidFill>
            <a:srgbClr val="2563EB"/>
          </a:solidFill>
          <a:ln/>
        </p:spPr>
      </p:sp>
      <p:sp>
        <p:nvSpPr>
          <p:cNvPr id="11" name="Text 9"/>
          <p:cNvSpPr/>
          <p:nvPr/>
        </p:nvSpPr>
        <p:spPr>
          <a:xfrm>
            <a:off x="4297680" y="178308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Shape 10"/>
          <p:cNvSpPr/>
          <p:nvPr/>
        </p:nvSpPr>
        <p:spPr>
          <a:xfrm>
            <a:off x="4251960" y="2606040"/>
            <a:ext cx="3383280" cy="1965960"/>
          </a:xfrm>
          <a:prstGeom prst="roundRect">
            <a:avLst>
              <a:gd name="adj" fmla="val 3721"/>
            </a:avLst>
          </a:prstGeom>
          <a:solidFill>
            <a:srgbClr val="F4F6F9"/>
          </a:solidFill>
          <a:ln/>
        </p:spPr>
      </p:sp>
      <p:sp>
        <p:nvSpPr>
          <p:cNvPr id="13" name="Text 11"/>
          <p:cNvSpPr/>
          <p:nvPr/>
        </p:nvSpPr>
        <p:spPr>
          <a:xfrm>
            <a:off x="4480560" y="2743200"/>
            <a:ext cx="2926080" cy="274320"/>
          </a:xfrm>
          <a:prstGeom prst="rect">
            <a:avLst/>
          </a:prstGeom>
          <a:noFill/>
          <a:ln/>
        </p:spPr>
        <p:txBody>
          <a:bodyPr wrap="square" rtlCol="0" anchor="ctr"/>
          <a:lstStyle/>
          <a:p>
            <a:pPr indent="0" marL="0">
              <a:buNone/>
            </a:pPr>
            <a:r>
              <a:rPr lang="en-US" sz="1050" b="1" spc="150" kern="0" dirty="0">
                <a:solidFill>
                  <a:srgbClr val="2563EB"/>
                </a:solidFill>
                <a:latin typeface="Arial" pitchFamily="34" charset="0"/>
                <a:ea typeface="Arial" pitchFamily="34" charset="-122"/>
                <a:cs typeface="Arial" pitchFamily="34" charset="-120"/>
              </a:rPr>
              <a:t>PHASE 2</a:t>
            </a:r>
            <a:endParaRPr lang="en-US" sz="1050" dirty="0"/>
          </a:p>
        </p:txBody>
      </p:sp>
      <p:sp>
        <p:nvSpPr>
          <p:cNvPr id="14" name="Text 12"/>
          <p:cNvSpPr/>
          <p:nvPr/>
        </p:nvSpPr>
        <p:spPr>
          <a:xfrm>
            <a:off x="4480560" y="3017520"/>
            <a:ext cx="2926080" cy="365760"/>
          </a:xfrm>
          <a:prstGeom prst="rect">
            <a:avLst/>
          </a:prstGeom>
          <a:noFill/>
          <a:ln/>
        </p:spPr>
        <p:txBody>
          <a:bodyPr wrap="square" rtlCol="0" anchor="ctr"/>
          <a:lstStyle/>
          <a:p>
            <a:pPr indent="0" marL="0">
              <a:buNone/>
            </a:pPr>
            <a:r>
              <a:rPr lang="en-US" sz="1700" b="1" dirty="0">
                <a:solidFill>
                  <a:srgbClr val="0B1F3A"/>
                </a:solidFill>
                <a:latin typeface="Arial" pitchFamily="34" charset="0"/>
                <a:ea typeface="Arial" pitchFamily="34" charset="-122"/>
                <a:cs typeface="Arial" pitchFamily="34" charset="-120"/>
              </a:rPr>
              <a:t>Validate</a:t>
            </a:r>
            <a:endParaRPr lang="en-US" sz="1700" dirty="0"/>
          </a:p>
        </p:txBody>
      </p:sp>
      <p:sp>
        <p:nvSpPr>
          <p:cNvPr id="15" name="Text 13"/>
          <p:cNvSpPr/>
          <p:nvPr/>
        </p:nvSpPr>
        <p:spPr>
          <a:xfrm>
            <a:off x="4480560" y="3429000"/>
            <a:ext cx="2926080" cy="1005840"/>
          </a:xfrm>
          <a:prstGeom prst="rect">
            <a:avLst/>
          </a:prstGeom>
          <a:noFill/>
          <a:ln/>
        </p:spPr>
        <p:txBody>
          <a:bodyPr wrap="square" rtlCol="0" anchor="ctr"/>
          <a:lstStyle/>
          <a:p>
            <a:pPr indent="0" marL="0">
              <a:lnSpc>
                <a:spcPts val="1550"/>
              </a:lnSpc>
              <a:buNone/>
            </a:pPr>
            <a:r>
              <a:rPr lang="en-US" sz="1200" dirty="0">
                <a:solidFill>
                  <a:srgbClr val="334155"/>
                </a:solidFill>
                <a:latin typeface="Arial" pitchFamily="34" charset="0"/>
                <a:ea typeface="Arial" pitchFamily="34" charset="-122"/>
                <a:cs typeface="Arial" pitchFamily="34" charset="-120"/>
              </a:rPr>
              <a:t>Enable local coordination and confirm operational resilience under real traffic.</a:t>
            </a:r>
            <a:endParaRPr lang="en-US" sz="1200" dirty="0"/>
          </a:p>
        </p:txBody>
      </p:sp>
      <p:sp>
        <p:nvSpPr>
          <p:cNvPr id="16" name="Shape 14"/>
          <p:cNvSpPr/>
          <p:nvPr/>
        </p:nvSpPr>
        <p:spPr>
          <a:xfrm>
            <a:off x="8001000" y="1783080"/>
            <a:ext cx="548640" cy="548640"/>
          </a:xfrm>
          <a:prstGeom prst="ellipse">
            <a:avLst/>
          </a:prstGeom>
          <a:solidFill>
            <a:srgbClr val="D97706"/>
          </a:solidFill>
          <a:ln/>
        </p:spPr>
      </p:sp>
      <p:sp>
        <p:nvSpPr>
          <p:cNvPr id="17" name="Text 15"/>
          <p:cNvSpPr/>
          <p:nvPr/>
        </p:nvSpPr>
        <p:spPr>
          <a:xfrm>
            <a:off x="8001000" y="178308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Shape 16"/>
          <p:cNvSpPr/>
          <p:nvPr/>
        </p:nvSpPr>
        <p:spPr>
          <a:xfrm>
            <a:off x="7955280" y="2606040"/>
            <a:ext cx="3383280" cy="1965960"/>
          </a:xfrm>
          <a:prstGeom prst="roundRect">
            <a:avLst>
              <a:gd name="adj" fmla="val 3721"/>
            </a:avLst>
          </a:prstGeom>
          <a:solidFill>
            <a:srgbClr val="F4F6F9"/>
          </a:solidFill>
          <a:ln/>
        </p:spPr>
      </p:sp>
      <p:sp>
        <p:nvSpPr>
          <p:cNvPr id="19" name="Text 17"/>
          <p:cNvSpPr/>
          <p:nvPr/>
        </p:nvSpPr>
        <p:spPr>
          <a:xfrm>
            <a:off x="8183880" y="2743200"/>
            <a:ext cx="2926080" cy="274320"/>
          </a:xfrm>
          <a:prstGeom prst="rect">
            <a:avLst/>
          </a:prstGeom>
          <a:noFill/>
          <a:ln/>
        </p:spPr>
        <p:txBody>
          <a:bodyPr wrap="square" rtlCol="0" anchor="ctr"/>
          <a:lstStyle/>
          <a:p>
            <a:pPr indent="0" marL="0">
              <a:buNone/>
            </a:pPr>
            <a:r>
              <a:rPr lang="en-US" sz="1050" b="1" spc="150" kern="0" dirty="0">
                <a:solidFill>
                  <a:srgbClr val="D97706"/>
                </a:solidFill>
                <a:latin typeface="Arial" pitchFamily="34" charset="0"/>
                <a:ea typeface="Arial" pitchFamily="34" charset="-122"/>
                <a:cs typeface="Arial" pitchFamily="34" charset="-120"/>
              </a:rPr>
              <a:t>PHASE 3</a:t>
            </a:r>
            <a:endParaRPr lang="en-US" sz="1050" dirty="0"/>
          </a:p>
        </p:txBody>
      </p:sp>
      <p:sp>
        <p:nvSpPr>
          <p:cNvPr id="20" name="Text 18"/>
          <p:cNvSpPr/>
          <p:nvPr/>
        </p:nvSpPr>
        <p:spPr>
          <a:xfrm>
            <a:off x="8183880" y="3017520"/>
            <a:ext cx="2926080" cy="365760"/>
          </a:xfrm>
          <a:prstGeom prst="rect">
            <a:avLst/>
          </a:prstGeom>
          <a:noFill/>
          <a:ln/>
        </p:spPr>
        <p:txBody>
          <a:bodyPr wrap="square" rtlCol="0" anchor="ctr"/>
          <a:lstStyle/>
          <a:p>
            <a:pPr indent="0" marL="0">
              <a:buNone/>
            </a:pPr>
            <a:r>
              <a:rPr lang="en-US" sz="1700" b="1" dirty="0">
                <a:solidFill>
                  <a:srgbClr val="0B1F3A"/>
                </a:solidFill>
                <a:latin typeface="Arial" pitchFamily="34" charset="0"/>
                <a:ea typeface="Arial" pitchFamily="34" charset="-122"/>
                <a:cs typeface="Arial" pitchFamily="34" charset="-120"/>
              </a:rPr>
              <a:t>Scale</a:t>
            </a:r>
            <a:endParaRPr lang="en-US" sz="1700" dirty="0"/>
          </a:p>
        </p:txBody>
      </p:sp>
      <p:sp>
        <p:nvSpPr>
          <p:cNvPr id="21" name="Text 19"/>
          <p:cNvSpPr/>
          <p:nvPr/>
        </p:nvSpPr>
        <p:spPr>
          <a:xfrm>
            <a:off x="8183880" y="3429000"/>
            <a:ext cx="2926080" cy="1005840"/>
          </a:xfrm>
          <a:prstGeom prst="rect">
            <a:avLst/>
          </a:prstGeom>
          <a:noFill/>
          <a:ln/>
        </p:spPr>
        <p:txBody>
          <a:bodyPr wrap="square" rtlCol="0" anchor="ctr"/>
          <a:lstStyle/>
          <a:p>
            <a:pPr indent="0" marL="0">
              <a:lnSpc>
                <a:spcPts val="1550"/>
              </a:lnSpc>
              <a:buNone/>
            </a:pPr>
            <a:r>
              <a:rPr lang="en-US" sz="1200" dirty="0">
                <a:solidFill>
                  <a:srgbClr val="334155"/>
                </a:solidFill>
                <a:latin typeface="Arial" pitchFamily="34" charset="0"/>
                <a:ea typeface="Arial" pitchFamily="34" charset="-122"/>
                <a:cs typeface="Arial" pitchFamily="34" charset="-120"/>
              </a:rPr>
              <a:t>Expand to broader deployment with plugin-driven capability growth and governance.</a:t>
            </a:r>
            <a:endParaRPr lang="en-US" sz="1200" dirty="0"/>
          </a:p>
        </p:txBody>
      </p:sp>
      <p:sp>
        <p:nvSpPr>
          <p:cNvPr id="22" name="Shape 20"/>
          <p:cNvSpPr/>
          <p:nvPr/>
        </p:nvSpPr>
        <p:spPr>
          <a:xfrm>
            <a:off x="548640" y="4892040"/>
            <a:ext cx="11064240" cy="1234440"/>
          </a:xfrm>
          <a:prstGeom prst="roundRect">
            <a:avLst>
              <a:gd name="adj" fmla="val 5926"/>
            </a:avLst>
          </a:prstGeom>
          <a:solidFill>
            <a:srgbClr val="0B1F3A"/>
          </a:solidFill>
          <a:ln/>
        </p:spPr>
      </p:sp>
      <p:sp>
        <p:nvSpPr>
          <p:cNvPr id="23" name="Text 21"/>
          <p:cNvSpPr/>
          <p:nvPr/>
        </p:nvSpPr>
        <p:spPr>
          <a:xfrm>
            <a:off x="914400" y="5074920"/>
            <a:ext cx="2743200" cy="320040"/>
          </a:xfrm>
          <a:prstGeom prst="rect">
            <a:avLst/>
          </a:prstGeom>
          <a:noFill/>
          <a:ln/>
        </p:spPr>
        <p:txBody>
          <a:bodyPr wrap="square" rtlCol="0" anchor="ctr"/>
          <a:lstStyle/>
          <a:p>
            <a:pPr indent="0" marL="0">
              <a:buNone/>
            </a:pPr>
            <a:r>
              <a:rPr lang="en-US" sz="1150" b="1" spc="150" kern="0" dirty="0">
                <a:solidFill>
                  <a:srgbClr val="0D9488"/>
                </a:solidFill>
                <a:latin typeface="Arial" pitchFamily="34" charset="0"/>
                <a:ea typeface="Arial" pitchFamily="34" charset="-122"/>
                <a:cs typeface="Arial" pitchFamily="34" charset="-120"/>
              </a:rPr>
              <a:t>THE ASK</a:t>
            </a:r>
            <a:endParaRPr lang="en-US" sz="1150" dirty="0"/>
          </a:p>
        </p:txBody>
      </p:sp>
      <p:sp>
        <p:nvSpPr>
          <p:cNvPr id="24" name="Text 22"/>
          <p:cNvSpPr/>
          <p:nvPr/>
        </p:nvSpPr>
        <p:spPr>
          <a:xfrm>
            <a:off x="914400" y="5349240"/>
            <a:ext cx="10332720" cy="640080"/>
          </a:xfrm>
          <a:prstGeom prst="rect">
            <a:avLst/>
          </a:prstGeom>
          <a:noFill/>
          <a:ln/>
        </p:spPr>
        <p:txBody>
          <a:bodyPr wrap="square" rtlCol="0" anchor="ctr"/>
          <a:lstStyle/>
          <a:p>
            <a:pPr indent="0" marL="0">
              <a:lnSpc>
                <a:spcPts val="1700"/>
              </a:lnSpc>
              <a:buNone/>
            </a:pPr>
            <a:r>
              <a:rPr lang="en-US" sz="1350" dirty="0">
                <a:solidFill>
                  <a:srgbClr val="FFFFFF"/>
                </a:solidFill>
                <a:latin typeface="Arial" pitchFamily="34" charset="0"/>
                <a:ea typeface="Arial" pitchFamily="34" charset="-122"/>
                <a:cs typeface="Arial" pitchFamily="34" charset="-120"/>
              </a:rPr>
              <a:t>Approve the pilot roadmap, resource allocation, and success metrics — release speed, incident reduction, service continuity, and support workload.</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2026-08-24T19:11:55Z</dcterms:created>
  <dcterms:modified xsi:type="dcterms:W3CDTF">2026-08-24T19:11:55Z</dcterms:modified>
</cp:coreProperties>
</file>